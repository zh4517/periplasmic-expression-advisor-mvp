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8" r:id="rId11"/>
    <p:sldId id="269" r:id="rId12"/>
    <p:sldId id="264" r:id="rId13"/>
    <p:sldId id="270" r:id="rId14"/>
    <p:sldId id="272" r:id="rId15"/>
    <p:sldId id="271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圆角矩形 13"/>
          <p:cNvSpPr>
            <a:spLocks noGrp="1"/>
          </p:cNvSpPr>
          <p:nvPr/>
        </p:nvSpPr>
        <p:spPr>
          <a:xfrm>
            <a:off x="685800" y="647700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E9F3EC"/>
          </a:solidFill>
          <a:ln w="9525">
            <a:solidFill>
              <a:srgbClr val="E9F3EC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685800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1">
                <a:solidFill>
                  <a:srgbClr val="0D665C"/>
                </a:solidFill>
              </a:defRPr>
            </a:defPPr>
            <a:lvl1pPr>
              <a:defRPr sz="975" b="1">
                <a:solidFill>
                  <a:srgbClr val="0D665C"/>
                </a:solidFill>
              </a:defRPr>
            </a:lvl1pPr>
            <a:lvl2pPr>
              <a:defRPr sz="975" b="1">
                <a:solidFill>
                  <a:srgbClr val="0D665C"/>
                </a:solidFill>
              </a:defRPr>
            </a:lvl2pPr>
            <a:lvl3pPr>
              <a:defRPr sz="975" b="1">
                <a:solidFill>
                  <a:srgbClr val="0D665C"/>
                </a:solidFill>
              </a:defRPr>
            </a:lvl3pPr>
            <a:lvl4pPr>
              <a:defRPr sz="975" b="1">
                <a:solidFill>
                  <a:srgbClr val="0D665C"/>
                </a:solidFill>
              </a:defRPr>
            </a:lvl4pPr>
            <a:lvl5pPr>
              <a:defRPr sz="975" b="1">
                <a:solidFill>
                  <a:srgbClr val="0D665C"/>
                </a:solidFill>
              </a:defRPr>
            </a:lvl5pPr>
            <a:lvl6pPr>
              <a:defRPr sz="975" b="1">
                <a:solidFill>
                  <a:srgbClr val="0D665C"/>
                </a:solidFill>
              </a:defRPr>
            </a:lvl6pPr>
            <a:lvl7pPr>
              <a:defRPr sz="975" b="1">
                <a:solidFill>
                  <a:srgbClr val="0D665C"/>
                </a:solidFill>
              </a:defRPr>
            </a:lvl7pPr>
            <a:lvl8pPr>
              <a:defRPr sz="975" b="1">
                <a:solidFill>
                  <a:srgbClr val="0D665C"/>
                </a:solidFill>
              </a:defRPr>
            </a:lvl8pPr>
            <a:lvl9pPr>
              <a:defRPr sz="975" b="1">
                <a:solidFill>
                  <a:srgbClr val="0D665C"/>
                </a:solidFill>
              </a:defRPr>
            </a:lvl9pPr>
          </a:lstStyle>
          <a:p>
            <a:pPr>
              <a:defRPr sz="975" b="1">
                <a:solidFill>
                  <a:srgbClr val="0D665C"/>
                </a:solidFill>
              </a:defRPr>
            </a:pPr>
            <a:r>
              <a:rPr sz="975" b="1">
                <a:solidFill>
                  <a:srgbClr val="0D665C"/>
                </a:solidFill>
              </a:rPr>
              <a:t>项目展示</a:t>
            </a:r>
            <a:endParaRPr sz="975" b="1">
              <a:solidFill>
                <a:srgbClr val="0D665C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52550"/>
            <a:ext cx="72390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450" b="1">
                <a:solidFill>
                  <a:srgbClr val="10201E"/>
                </a:solidFill>
              </a:defRPr>
            </a:defPPr>
            <a:lvl1pPr>
              <a:defRPr sz="3450" b="1">
                <a:solidFill>
                  <a:srgbClr val="10201E"/>
                </a:solidFill>
              </a:defRPr>
            </a:lvl1pPr>
            <a:lvl2pPr>
              <a:defRPr sz="3450" b="1">
                <a:solidFill>
                  <a:srgbClr val="10201E"/>
                </a:solidFill>
              </a:defRPr>
            </a:lvl2pPr>
            <a:lvl3pPr>
              <a:defRPr sz="3450" b="1">
                <a:solidFill>
                  <a:srgbClr val="10201E"/>
                </a:solidFill>
              </a:defRPr>
            </a:lvl3pPr>
            <a:lvl4pPr>
              <a:defRPr sz="3450" b="1">
                <a:solidFill>
                  <a:srgbClr val="10201E"/>
                </a:solidFill>
              </a:defRPr>
            </a:lvl4pPr>
            <a:lvl5pPr>
              <a:defRPr sz="3450" b="1">
                <a:solidFill>
                  <a:srgbClr val="10201E"/>
                </a:solidFill>
              </a:defRPr>
            </a:lvl5pPr>
            <a:lvl6pPr>
              <a:defRPr sz="3450" b="1">
                <a:solidFill>
                  <a:srgbClr val="10201E"/>
                </a:solidFill>
              </a:defRPr>
            </a:lvl6pPr>
            <a:lvl7pPr>
              <a:defRPr sz="3450" b="1">
                <a:solidFill>
                  <a:srgbClr val="10201E"/>
                </a:solidFill>
              </a:defRPr>
            </a:lvl7pPr>
            <a:lvl8pPr>
              <a:defRPr sz="3450" b="1">
                <a:solidFill>
                  <a:srgbClr val="10201E"/>
                </a:solidFill>
              </a:defRPr>
            </a:lvl8pPr>
            <a:lvl9pPr>
              <a:defRPr sz="3450" b="1">
                <a:solidFill>
                  <a:srgbClr val="10201E"/>
                </a:solidFill>
              </a:defRPr>
            </a:lvl9pPr>
          </a:lstStyle>
          <a:p>
            <a:pPr>
              <a:defRPr sz="3450" b="1">
                <a:solidFill>
                  <a:srgbClr val="10201E"/>
                </a:solidFill>
              </a:defRPr>
            </a:pPr>
            <a:r>
              <a:rPr sz="3450" b="1">
                <a:solidFill>
                  <a:srgbClr val="10201E"/>
                </a:solidFill>
              </a:rPr>
              <a:t>从论文复现到AI辅助的</a:t>
            </a:r>
            <a:endParaRPr sz="3450" b="1">
              <a:solidFill>
                <a:srgbClr val="10201E"/>
              </a:solidFill>
            </a:endParaRPr>
          </a:p>
          <a:p>
            <a:pPr>
              <a:defRPr sz="3450" b="1">
                <a:solidFill>
                  <a:srgbClr val="10201E"/>
                </a:solidFill>
              </a:defRPr>
            </a:pPr>
            <a:r>
              <a:rPr sz="3450" b="1">
                <a:solidFill>
                  <a:srgbClr val="10201E"/>
                </a:solidFill>
              </a:rPr>
              <a:t>蛋白表达实验优先级工具</a:t>
            </a:r>
            <a:endParaRPr sz="3450" b="1">
              <a:solidFill>
                <a:srgbClr val="10201E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2952750"/>
            <a:ext cx="6572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586861"/>
                </a:solidFill>
              </a:defRPr>
            </a:defPPr>
            <a:lvl1pPr>
              <a:defRPr sz="1650" b="0">
                <a:solidFill>
                  <a:srgbClr val="586861"/>
                </a:solidFill>
              </a:defRPr>
            </a:lvl1pPr>
            <a:lvl2pPr>
              <a:defRPr sz="1650" b="0">
                <a:solidFill>
                  <a:srgbClr val="586861"/>
                </a:solidFill>
              </a:defRPr>
            </a:lvl2pPr>
            <a:lvl3pPr>
              <a:defRPr sz="1650" b="0">
                <a:solidFill>
                  <a:srgbClr val="586861"/>
                </a:solidFill>
              </a:defRPr>
            </a:lvl3pPr>
            <a:lvl4pPr>
              <a:defRPr sz="1650" b="0">
                <a:solidFill>
                  <a:srgbClr val="586861"/>
                </a:solidFill>
              </a:defRPr>
            </a:lvl4pPr>
            <a:lvl5pPr>
              <a:defRPr sz="1650" b="0">
                <a:solidFill>
                  <a:srgbClr val="586861"/>
                </a:solidFill>
              </a:defRPr>
            </a:lvl5pPr>
            <a:lvl6pPr>
              <a:defRPr sz="1650" b="0">
                <a:solidFill>
                  <a:srgbClr val="586861"/>
                </a:solidFill>
              </a:defRPr>
            </a:lvl6pPr>
            <a:lvl7pPr>
              <a:defRPr sz="1650" b="0">
                <a:solidFill>
                  <a:srgbClr val="586861"/>
                </a:solidFill>
              </a:defRPr>
            </a:lvl7pPr>
            <a:lvl8pPr>
              <a:defRPr sz="1650" b="0">
                <a:solidFill>
                  <a:srgbClr val="586861"/>
                </a:solidFill>
              </a:defRPr>
            </a:lvl8pPr>
            <a:lvl9pPr>
              <a:defRPr sz="1650" b="0">
                <a:solidFill>
                  <a:srgbClr val="586861"/>
                </a:solidFill>
              </a:defRPr>
            </a:lvl9pPr>
          </a:lstStyle>
          <a:p>
            <a:pPr>
              <a:defRPr sz="1650" b="0">
                <a:solidFill>
                  <a:srgbClr val="586861"/>
                </a:solidFill>
              </a:defRPr>
            </a:pPr>
            <a:r>
              <a:rPr sz="1650" b="0">
                <a:solidFill>
                  <a:srgbClr val="586861"/>
                </a:solidFill>
              </a:rPr>
              <a:t>公开论文数据的审计、序列特征建模、严格验证与交互原型</a:t>
            </a:r>
            <a:endParaRPr sz="1650" b="0">
              <a:solidFill>
                <a:srgbClr val="586861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239125" y="1238250"/>
            <a:ext cx="2952750" cy="3143250"/>
          </a:xfrm>
          <a:prstGeom prst="roundRect">
            <a:avLst>
              <a:gd name="adj" fmla="val 2581"/>
            </a:avLst>
          </a:prstGeom>
          <a:solidFill>
            <a:srgbClr val="E9F3EC"/>
          </a:solidFill>
          <a:ln w="9525">
            <a:solidFill>
              <a:srgbClr val="E9F3E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0" y="1571625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586861"/>
                </a:solidFill>
              </a:defRPr>
            </a:defPPr>
            <a:lvl1pPr>
              <a:defRPr sz="1425" b="1">
                <a:solidFill>
                  <a:srgbClr val="586861"/>
                </a:solidFill>
              </a:defRPr>
            </a:lvl1pPr>
            <a:lvl2pPr>
              <a:defRPr sz="1425" b="1">
                <a:solidFill>
                  <a:srgbClr val="586861"/>
                </a:solidFill>
              </a:defRPr>
            </a:lvl2pPr>
            <a:lvl3pPr>
              <a:defRPr sz="1425" b="1">
                <a:solidFill>
                  <a:srgbClr val="586861"/>
                </a:solidFill>
              </a:defRPr>
            </a:lvl3pPr>
            <a:lvl4pPr>
              <a:defRPr sz="1425" b="1">
                <a:solidFill>
                  <a:srgbClr val="586861"/>
                </a:solidFill>
              </a:defRPr>
            </a:lvl4pPr>
            <a:lvl5pPr>
              <a:defRPr sz="1425" b="1">
                <a:solidFill>
                  <a:srgbClr val="586861"/>
                </a:solidFill>
              </a:defRPr>
            </a:lvl5pPr>
            <a:lvl6pPr>
              <a:defRPr sz="1425" b="1">
                <a:solidFill>
                  <a:srgbClr val="586861"/>
                </a:solidFill>
              </a:defRPr>
            </a:lvl6pPr>
            <a:lvl7pPr>
              <a:defRPr sz="1425" b="1">
                <a:solidFill>
                  <a:srgbClr val="586861"/>
                </a:solidFill>
              </a:defRPr>
            </a:lvl7pPr>
            <a:lvl8pPr>
              <a:defRPr sz="1425" b="1">
                <a:solidFill>
                  <a:srgbClr val="586861"/>
                </a:solidFill>
              </a:defRPr>
            </a:lvl8pPr>
            <a:lvl9pPr>
              <a:defRPr sz="1425" b="1">
                <a:solidFill>
                  <a:srgbClr val="586861"/>
                </a:solidFill>
              </a:defRPr>
            </a:lvl9pPr>
          </a:lstStyle>
          <a:p>
            <a:pPr>
              <a:defRPr sz="1425" b="1">
                <a:solidFill>
                  <a:srgbClr val="586861"/>
                </a:solidFill>
              </a:defRPr>
            </a:pPr>
            <a:r>
              <a:rPr sz="1425" b="1">
                <a:solidFill>
                  <a:srgbClr val="586861"/>
                </a:solidFill>
              </a:rPr>
              <a:t>候选构建体</a:t>
            </a:r>
            <a:endParaRPr sz="1425" b="1">
              <a:solidFill>
                <a:srgbClr val="586861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572500" y="2124075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572500" y="22098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0201E"/>
                </a:solidFill>
              </a:defRPr>
            </a:defPPr>
            <a:lvl1pPr>
              <a:defRPr sz="1275" b="1">
                <a:solidFill>
                  <a:srgbClr val="10201E"/>
                </a:solidFill>
              </a:defRPr>
            </a:lvl1pPr>
            <a:lvl2pPr>
              <a:defRPr sz="1275" b="1">
                <a:solidFill>
                  <a:srgbClr val="10201E"/>
                </a:solidFill>
              </a:defRPr>
            </a:lvl2pPr>
            <a:lvl3pPr>
              <a:defRPr sz="1275" b="1">
                <a:solidFill>
                  <a:srgbClr val="10201E"/>
                </a:solidFill>
              </a:defRPr>
            </a:lvl3pPr>
            <a:lvl4pPr>
              <a:defRPr sz="1275" b="1">
                <a:solidFill>
                  <a:srgbClr val="10201E"/>
                </a:solidFill>
              </a:defRPr>
            </a:lvl4pPr>
            <a:lvl5pPr>
              <a:defRPr sz="1275" b="1">
                <a:solidFill>
                  <a:srgbClr val="10201E"/>
                </a:solidFill>
              </a:defRPr>
            </a:lvl5pPr>
            <a:lvl6pPr>
              <a:defRPr sz="1275" b="1">
                <a:solidFill>
                  <a:srgbClr val="10201E"/>
                </a:solidFill>
              </a:defRPr>
            </a:lvl6pPr>
            <a:lvl7pPr>
              <a:defRPr sz="1275" b="1">
                <a:solidFill>
                  <a:srgbClr val="10201E"/>
                </a:solidFill>
              </a:defRPr>
            </a:lvl7pPr>
            <a:lvl8pPr>
              <a:defRPr sz="1275" b="1">
                <a:solidFill>
                  <a:srgbClr val="10201E"/>
                </a:solidFill>
              </a:defRPr>
            </a:lvl8pPr>
            <a:lvl9pPr>
              <a:defRPr sz="1275" b="1">
                <a:solidFill>
                  <a:srgbClr val="10201E"/>
                </a:solidFill>
              </a:defRPr>
            </a:lvl9pPr>
          </a:lstStyle>
          <a:p>
            <a:pPr>
              <a:defRPr sz="1275" b="1">
                <a:solidFill>
                  <a:srgbClr val="10201E"/>
                </a:solidFill>
              </a:defRPr>
            </a:pPr>
            <a:r>
              <a:rPr sz="1275" b="1">
                <a:solidFill>
                  <a:srgbClr val="10201E"/>
                </a:solidFill>
              </a:rPr>
              <a:t>信号肽</a:t>
            </a:r>
            <a:endParaRPr sz="1275" b="1">
              <a:solidFill>
                <a:srgbClr val="10201E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572500" y="2809875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72500" y="28956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0201E"/>
                </a:solidFill>
              </a:defRPr>
            </a:defPPr>
            <a:lvl1pPr>
              <a:defRPr sz="1275" b="1">
                <a:solidFill>
                  <a:srgbClr val="10201E"/>
                </a:solidFill>
              </a:defRPr>
            </a:lvl1pPr>
            <a:lvl2pPr>
              <a:defRPr sz="1275" b="1">
                <a:solidFill>
                  <a:srgbClr val="10201E"/>
                </a:solidFill>
              </a:defRPr>
            </a:lvl2pPr>
            <a:lvl3pPr>
              <a:defRPr sz="1275" b="1">
                <a:solidFill>
                  <a:srgbClr val="10201E"/>
                </a:solidFill>
              </a:defRPr>
            </a:lvl3pPr>
            <a:lvl4pPr>
              <a:defRPr sz="1275" b="1">
                <a:solidFill>
                  <a:srgbClr val="10201E"/>
                </a:solidFill>
              </a:defRPr>
            </a:lvl4pPr>
            <a:lvl5pPr>
              <a:defRPr sz="1275" b="1">
                <a:solidFill>
                  <a:srgbClr val="10201E"/>
                </a:solidFill>
              </a:defRPr>
            </a:lvl5pPr>
            <a:lvl6pPr>
              <a:defRPr sz="1275" b="1">
                <a:solidFill>
                  <a:srgbClr val="10201E"/>
                </a:solidFill>
              </a:defRPr>
            </a:lvl6pPr>
            <a:lvl7pPr>
              <a:defRPr sz="1275" b="1">
                <a:solidFill>
                  <a:srgbClr val="10201E"/>
                </a:solidFill>
              </a:defRPr>
            </a:lvl7pPr>
            <a:lvl8pPr>
              <a:defRPr sz="1275" b="1">
                <a:solidFill>
                  <a:srgbClr val="10201E"/>
                </a:solidFill>
              </a:defRPr>
            </a:lvl8pPr>
            <a:lvl9pPr>
              <a:defRPr sz="1275" b="1">
                <a:solidFill>
                  <a:srgbClr val="10201E"/>
                </a:solidFill>
              </a:defRPr>
            </a:lvl9pPr>
          </a:lstStyle>
          <a:p>
            <a:pPr>
              <a:defRPr sz="1275" b="1">
                <a:solidFill>
                  <a:srgbClr val="10201E"/>
                </a:solidFill>
              </a:defRPr>
            </a:pPr>
            <a:r>
              <a:rPr sz="1275" b="1">
                <a:solidFill>
                  <a:srgbClr val="10201E"/>
                </a:solidFill>
              </a:rPr>
              <a:t>成熟蛋白</a:t>
            </a:r>
            <a:endParaRPr sz="1275" b="1">
              <a:solidFill>
                <a:srgbClr val="10201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572500" y="3495675"/>
            <a:ext cx="2286000" cy="438150"/>
          </a:xfrm>
          <a:prstGeom prst="roundRect">
            <a:avLst>
              <a:gd name="adj" fmla="val 17391"/>
            </a:avLst>
          </a:prstGeom>
          <a:solidFill>
            <a:srgbClr val="0D665C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572500" y="35814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候选排序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4850" y="5334000"/>
            <a:ext cx="676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0D665C"/>
                </a:solidFill>
              </a:defRPr>
            </a:defPPr>
            <a:lvl1pPr>
              <a:defRPr sz="1575" b="1">
                <a:solidFill>
                  <a:srgbClr val="0D665C"/>
                </a:solidFill>
              </a:defRPr>
            </a:lvl1pPr>
            <a:lvl2pPr>
              <a:defRPr sz="1575" b="1">
                <a:solidFill>
                  <a:srgbClr val="0D665C"/>
                </a:solidFill>
              </a:defRPr>
            </a:lvl2pPr>
            <a:lvl3pPr>
              <a:defRPr sz="1575" b="1">
                <a:solidFill>
                  <a:srgbClr val="0D665C"/>
                </a:solidFill>
              </a:defRPr>
            </a:lvl3pPr>
            <a:lvl4pPr>
              <a:defRPr sz="1575" b="1">
                <a:solidFill>
                  <a:srgbClr val="0D665C"/>
                </a:solidFill>
              </a:defRPr>
            </a:lvl4pPr>
            <a:lvl5pPr>
              <a:defRPr sz="1575" b="1">
                <a:solidFill>
                  <a:srgbClr val="0D665C"/>
                </a:solidFill>
              </a:defRPr>
            </a:lvl5pPr>
            <a:lvl6pPr>
              <a:defRPr sz="1575" b="1">
                <a:solidFill>
                  <a:srgbClr val="0D665C"/>
                </a:solidFill>
              </a:defRPr>
            </a:lvl6pPr>
            <a:lvl7pPr>
              <a:defRPr sz="1575" b="1">
                <a:solidFill>
                  <a:srgbClr val="0D665C"/>
                </a:solidFill>
              </a:defRPr>
            </a:lvl7pPr>
            <a:lvl8pPr>
              <a:defRPr sz="1575" b="1">
                <a:solidFill>
                  <a:srgbClr val="0D665C"/>
                </a:solidFill>
              </a:defRPr>
            </a:lvl8pPr>
            <a:lvl9pPr>
              <a:defRPr sz="1575" b="1">
                <a:solidFill>
                  <a:srgbClr val="0D665C"/>
                </a:solidFill>
              </a:defRPr>
            </a:lvl9pPr>
          </a:lstStyle>
          <a:p>
            <a:pPr>
              <a:defRPr sz="1575" b="1">
                <a:solidFill>
                  <a:srgbClr val="0D665C"/>
                </a:solidFill>
              </a:defRPr>
            </a:pPr>
            <a:r>
              <a:rPr sz="1575" b="1">
                <a:solidFill>
                  <a:srgbClr val="0D665C"/>
                </a:solidFill>
              </a:rPr>
              <a:t>核心输出：一批候选构建体的实验优先顺序</a:t>
            </a:r>
            <a:endParaRPr sz="1575" b="1">
              <a:solidFill>
                <a:srgbClr val="0D665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6477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10201E"/>
                </a:solidFill>
              </a:defRPr>
            </a:defPPr>
            <a:lvl1pPr>
              <a:defRPr sz="2850" b="1">
                <a:solidFill>
                  <a:srgbClr val="10201E"/>
                </a:solidFill>
              </a:defRPr>
            </a:lvl1pPr>
            <a:lvl2pPr>
              <a:defRPr sz="2850" b="1">
                <a:solidFill>
                  <a:srgbClr val="10201E"/>
                </a:solidFill>
              </a:defRPr>
            </a:lvl2pPr>
            <a:lvl3pPr>
              <a:defRPr sz="2850" b="1">
                <a:solidFill>
                  <a:srgbClr val="10201E"/>
                </a:solidFill>
              </a:defRPr>
            </a:lvl3pPr>
            <a:lvl4pPr>
              <a:defRPr sz="2850" b="1">
                <a:solidFill>
                  <a:srgbClr val="10201E"/>
                </a:solidFill>
              </a:defRPr>
            </a:lvl4pPr>
            <a:lvl5pPr>
              <a:defRPr sz="2850" b="1">
                <a:solidFill>
                  <a:srgbClr val="10201E"/>
                </a:solidFill>
              </a:defRPr>
            </a:lvl5pPr>
            <a:lvl6pPr>
              <a:defRPr sz="2850" b="1">
                <a:solidFill>
                  <a:srgbClr val="10201E"/>
                </a:solidFill>
              </a:defRPr>
            </a:lvl6pPr>
            <a:lvl7pPr>
              <a:defRPr sz="2850" b="1">
                <a:solidFill>
                  <a:srgbClr val="10201E"/>
                </a:solidFill>
              </a:defRPr>
            </a:lvl7pPr>
            <a:lvl8pPr>
              <a:defRPr sz="2850" b="1">
                <a:solidFill>
                  <a:srgbClr val="10201E"/>
                </a:solidFill>
              </a:defRPr>
            </a:lvl8pPr>
            <a:lvl9pPr>
              <a:defRPr sz="2850" b="1">
                <a:solidFill>
                  <a:srgbClr val="10201E"/>
                </a:solidFill>
              </a:defRPr>
            </a:lvl9pPr>
          </a:lstStyle>
          <a:p>
            <a:pPr>
              <a:defRPr sz="2850" b="1">
                <a:solidFill>
                  <a:srgbClr val="10201E"/>
                </a:solidFill>
              </a:defRPr>
            </a:pPr>
            <a:r>
              <a:rPr sz="2850" b="1">
                <a:solidFill>
                  <a:srgbClr val="10201E"/>
                </a:solidFill>
              </a:rPr>
              <a:t>论文目标与实现拆解</a:t>
            </a:r>
            <a:endParaRPr sz="2850" b="1">
              <a:solidFill>
                <a:srgbClr val="10201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620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86861"/>
                </a:solidFill>
              </a:defRPr>
            </a:defPPr>
            <a:lvl1pPr>
              <a:defRPr sz="1275" b="0">
                <a:solidFill>
                  <a:srgbClr val="586861"/>
                </a:solidFill>
              </a:defRPr>
            </a:lvl1pPr>
            <a:lvl2pPr>
              <a:defRPr sz="1275" b="0">
                <a:solidFill>
                  <a:srgbClr val="586861"/>
                </a:solidFill>
              </a:defRPr>
            </a:lvl2pPr>
            <a:lvl3pPr>
              <a:defRPr sz="1275" b="0">
                <a:solidFill>
                  <a:srgbClr val="586861"/>
                </a:solidFill>
              </a:defRPr>
            </a:lvl3pPr>
            <a:lvl4pPr>
              <a:defRPr sz="1275" b="0">
                <a:solidFill>
                  <a:srgbClr val="586861"/>
                </a:solidFill>
              </a:defRPr>
            </a:lvl4pPr>
            <a:lvl5pPr>
              <a:defRPr sz="1275" b="0">
                <a:solidFill>
                  <a:srgbClr val="586861"/>
                </a:solidFill>
              </a:defRPr>
            </a:lvl5pPr>
            <a:lvl6pPr>
              <a:defRPr sz="1275" b="0">
                <a:solidFill>
                  <a:srgbClr val="586861"/>
                </a:solidFill>
              </a:defRPr>
            </a:lvl6pPr>
            <a:lvl7pPr>
              <a:defRPr sz="1275" b="0">
                <a:solidFill>
                  <a:srgbClr val="586861"/>
                </a:solidFill>
              </a:defRPr>
            </a:lvl7pPr>
            <a:lvl8pPr>
              <a:defRPr sz="1275" b="0">
                <a:solidFill>
                  <a:srgbClr val="586861"/>
                </a:solidFill>
              </a:defRPr>
            </a:lvl8pPr>
            <a:lvl9pPr>
              <a:defRPr sz="1275" b="0">
                <a:solidFill>
                  <a:srgbClr val="586861"/>
                </a:solidFill>
              </a:defRPr>
            </a:lvl9pPr>
          </a:lstStyle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先确认原论文试图回答什么，以及公开材料实际提供了什么</a:t>
            </a:r>
            <a:endParaRPr sz="1275" b="0">
              <a:solidFill>
                <a:srgbClr val="5868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157162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D665C"/>
                </a:solidFill>
              </a:defRPr>
            </a:defPPr>
            <a:lvl1pPr>
              <a:defRPr sz="1725" b="1">
                <a:solidFill>
                  <a:srgbClr val="0D665C"/>
                </a:solidFill>
              </a:defRPr>
            </a:lvl1pPr>
            <a:lvl2pPr>
              <a:defRPr sz="1725" b="1">
                <a:solidFill>
                  <a:srgbClr val="0D665C"/>
                </a:solidFill>
              </a:defRPr>
            </a:lvl2pPr>
            <a:lvl3pPr>
              <a:defRPr sz="1725" b="1">
                <a:solidFill>
                  <a:srgbClr val="0D665C"/>
                </a:solidFill>
              </a:defRPr>
            </a:lvl3pPr>
            <a:lvl4pPr>
              <a:defRPr sz="1725" b="1">
                <a:solidFill>
                  <a:srgbClr val="0D665C"/>
                </a:solidFill>
              </a:defRPr>
            </a:lvl4pPr>
            <a:lvl5pPr>
              <a:defRPr sz="1725" b="1">
                <a:solidFill>
                  <a:srgbClr val="0D665C"/>
                </a:solidFill>
              </a:defRPr>
            </a:lvl5pPr>
            <a:lvl6pPr>
              <a:defRPr sz="1725" b="1">
                <a:solidFill>
                  <a:srgbClr val="0D665C"/>
                </a:solidFill>
              </a:defRPr>
            </a:lvl6pPr>
            <a:lvl7pPr>
              <a:defRPr sz="1725" b="1">
                <a:solidFill>
                  <a:srgbClr val="0D665C"/>
                </a:solidFill>
              </a:defRPr>
            </a:lvl7pPr>
            <a:lvl8pPr>
              <a:defRPr sz="1725" b="1">
                <a:solidFill>
                  <a:srgbClr val="0D665C"/>
                </a:solidFill>
              </a:defRPr>
            </a:lvl8pPr>
            <a:lvl9pPr>
              <a:defRPr sz="1725" b="1">
                <a:solidFill>
                  <a:srgbClr val="0D665C"/>
                </a:solidFill>
              </a:defRPr>
            </a:lvl9pPr>
          </a:lstStyle>
          <a:p>
            <a:pPr>
              <a:defRPr sz="1725" b="1">
                <a:solidFill>
                  <a:srgbClr val="0D665C"/>
                </a:solidFill>
              </a:defRPr>
            </a:pPr>
            <a:r>
              <a:rPr sz="1725" b="1">
                <a:solidFill>
                  <a:srgbClr val="0D665C"/>
                </a:solidFill>
              </a:rPr>
              <a:t>论文的原始任务</a:t>
            </a:r>
            <a:endParaRPr sz="1725" b="1">
              <a:solidFill>
                <a:srgbClr val="0D665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19150" y="2009775"/>
            <a:ext cx="4000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0201E"/>
                </a:solidFill>
              </a:defRPr>
            </a:defPPr>
            <a:lvl1pPr>
              <a:defRPr sz="1425" b="1">
                <a:solidFill>
                  <a:srgbClr val="10201E"/>
                </a:solidFill>
              </a:defRPr>
            </a:lvl1pPr>
            <a:lvl2pPr>
              <a:defRPr sz="1425" b="1">
                <a:solidFill>
                  <a:srgbClr val="10201E"/>
                </a:solidFill>
              </a:defRPr>
            </a:lvl2pPr>
            <a:lvl3pPr>
              <a:defRPr sz="1425" b="1">
                <a:solidFill>
                  <a:srgbClr val="10201E"/>
                </a:solidFill>
              </a:defRPr>
            </a:lvl3pPr>
            <a:lvl4pPr>
              <a:defRPr sz="1425" b="1">
                <a:solidFill>
                  <a:srgbClr val="10201E"/>
                </a:solidFill>
              </a:defRPr>
            </a:lvl4pPr>
            <a:lvl5pPr>
              <a:defRPr sz="1425" b="1">
                <a:solidFill>
                  <a:srgbClr val="10201E"/>
                </a:solidFill>
              </a:defRPr>
            </a:lvl5pPr>
            <a:lvl6pPr>
              <a:defRPr sz="1425" b="1">
                <a:solidFill>
                  <a:srgbClr val="10201E"/>
                </a:solidFill>
              </a:defRPr>
            </a:lvl6pPr>
            <a:lvl7pPr>
              <a:defRPr sz="1425" b="1">
                <a:solidFill>
                  <a:srgbClr val="10201E"/>
                </a:solidFill>
              </a:defRPr>
            </a:lvl7pPr>
            <a:lvl8pPr>
              <a:defRPr sz="1425" b="1">
                <a:solidFill>
                  <a:srgbClr val="10201E"/>
                </a:solidFill>
              </a:defRPr>
            </a:lvl8pPr>
            <a:lvl9pPr>
              <a:defRPr sz="1425" b="1">
                <a:solidFill>
                  <a:srgbClr val="10201E"/>
                </a:solidFill>
              </a:defRPr>
            </a:lvl9pPr>
          </a:lstStyle>
          <a:p>
            <a:pPr>
              <a:defRPr sz="1425" b="1">
                <a:solidFill>
                  <a:srgbClr val="10201E"/>
                </a:solidFill>
              </a:defRPr>
            </a:pPr>
            <a:r>
              <a:rPr sz="1425" b="1">
                <a:solidFill>
                  <a:srgbClr val="10201E"/>
                </a:solidFill>
              </a:rPr>
              <a:t>一个构建体 + 多套工艺条件</a:t>
            </a:r>
            <a:endParaRPr sz="1425" b="1">
              <a:solidFill>
                <a:srgbClr val="10201E"/>
              </a:solidFill>
            </a:endParaRPr>
          </a:p>
          <a:p>
            <a:pPr>
              <a:defRPr sz="1425" b="1">
                <a:solidFill>
                  <a:srgbClr val="10201E"/>
                </a:solidFill>
              </a:defRPr>
            </a:pPr>
            <a:r>
              <a:rPr sz="1425" b="1">
                <a:solidFill>
                  <a:srgbClr val="10201E"/>
                </a:solidFill>
              </a:rPr>
              <a:t>OD、IPTG、温度、诱导时间</a:t>
            </a:r>
            <a:endParaRPr sz="1425" b="1">
              <a:solidFill>
                <a:srgbClr val="10201E"/>
              </a:solidFill>
            </a:endParaRPr>
          </a:p>
          <a:p>
            <a:pPr>
              <a:defRPr sz="1425" b="1">
                <a:solidFill>
                  <a:srgbClr val="10201E"/>
                </a:solidFill>
              </a:defRPr>
            </a:pPr>
            <a:r>
              <a:rPr sz="1425" b="1">
                <a:solidFill>
                  <a:srgbClr val="10201E"/>
                </a:solidFill>
              </a:rPr>
              <a:t>预测表达量，并寻找更优条件</a:t>
            </a:r>
            <a:endParaRPr sz="1425" b="1">
              <a:solidFill>
                <a:srgbClr val="10201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705600" y="1571625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D665C"/>
                </a:solidFill>
              </a:defRPr>
            </a:defPPr>
            <a:lvl1pPr>
              <a:defRPr sz="1725" b="1">
                <a:solidFill>
                  <a:srgbClr val="0D665C"/>
                </a:solidFill>
              </a:defRPr>
            </a:lvl1pPr>
            <a:lvl2pPr>
              <a:defRPr sz="1725" b="1">
                <a:solidFill>
                  <a:srgbClr val="0D665C"/>
                </a:solidFill>
              </a:defRPr>
            </a:lvl2pPr>
            <a:lvl3pPr>
              <a:defRPr sz="1725" b="1">
                <a:solidFill>
                  <a:srgbClr val="0D665C"/>
                </a:solidFill>
              </a:defRPr>
            </a:lvl3pPr>
            <a:lvl4pPr>
              <a:defRPr sz="1725" b="1">
                <a:solidFill>
                  <a:srgbClr val="0D665C"/>
                </a:solidFill>
              </a:defRPr>
            </a:lvl4pPr>
            <a:lvl5pPr>
              <a:defRPr sz="1725" b="1">
                <a:solidFill>
                  <a:srgbClr val="0D665C"/>
                </a:solidFill>
              </a:defRPr>
            </a:lvl5pPr>
            <a:lvl6pPr>
              <a:defRPr sz="1725" b="1">
                <a:solidFill>
                  <a:srgbClr val="0D665C"/>
                </a:solidFill>
              </a:defRPr>
            </a:lvl6pPr>
            <a:lvl7pPr>
              <a:defRPr sz="1725" b="1">
                <a:solidFill>
                  <a:srgbClr val="0D665C"/>
                </a:solidFill>
              </a:defRPr>
            </a:lvl7pPr>
            <a:lvl8pPr>
              <a:defRPr sz="1725" b="1">
                <a:solidFill>
                  <a:srgbClr val="0D665C"/>
                </a:solidFill>
              </a:defRPr>
            </a:lvl8pPr>
            <a:lvl9pPr>
              <a:defRPr sz="1725" b="1">
                <a:solidFill>
                  <a:srgbClr val="0D665C"/>
                </a:solidFill>
              </a:defRPr>
            </a:lvl9pPr>
          </a:lstStyle>
          <a:p>
            <a:pPr>
              <a:defRPr sz="1725" b="1">
                <a:solidFill>
                  <a:srgbClr val="0D665C"/>
                </a:solidFill>
              </a:defRPr>
            </a:pPr>
            <a:r>
              <a:rPr sz="1725" b="1">
                <a:solidFill>
                  <a:srgbClr val="0D665C"/>
                </a:solidFill>
              </a:rPr>
              <a:t>论文描述的数据与特征</a:t>
            </a:r>
            <a:endParaRPr sz="1725" b="1">
              <a:solidFill>
                <a:srgbClr val="0D665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705600" y="2009775"/>
            <a:ext cx="2000250" cy="4095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781800" y="2047875"/>
            <a:ext cx="1847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项目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05850" y="2009775"/>
            <a:ext cx="2524125" cy="4095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782050" y="2047875"/>
            <a:ext cx="23717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论文描述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05600" y="2419350"/>
            <a:ext cx="20002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781800" y="2457450"/>
            <a:ext cx="1847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过程条件记录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705850" y="2419350"/>
            <a:ext cx="252412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782050" y="2457450"/>
            <a:ext cx="23717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461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05600" y="2828925"/>
            <a:ext cx="2000250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81800" y="2867025"/>
            <a:ext cx="1847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信号肽—蛋白组合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05850" y="2828925"/>
            <a:ext cx="2524125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782050" y="2867025"/>
            <a:ext cx="23717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103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705600" y="3238500"/>
            <a:ext cx="20002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781800" y="3276600"/>
            <a:ext cx="1847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初始特征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05850" y="3238500"/>
            <a:ext cx="252412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782050" y="3276600"/>
            <a:ext cx="23717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11,985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705600" y="3648075"/>
            <a:ext cx="2000250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781800" y="3686175"/>
            <a:ext cx="1847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目标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705850" y="3648075"/>
            <a:ext cx="2524125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782050" y="3686175"/>
            <a:ext cx="23717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表达预测与条件优化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5848350" y="1504950"/>
            <a:ext cx="0" cy="3009900"/>
          </a:xfrm>
          <a:prstGeom prst="line">
            <a:avLst/>
          </a:prstGeom>
          <a:ln w="19050">
            <a:solidFill>
              <a:srgbClr val="D6E2D9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1123950" y="4686300"/>
            <a:ext cx="9944100" cy="857250"/>
          </a:xfrm>
          <a:prstGeom prst="roundRect">
            <a:avLst>
              <a:gd name="adj" fmla="val 8889"/>
            </a:avLst>
          </a:prstGeom>
          <a:solidFill>
            <a:srgbClr val="E9F3EC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428750" y="49434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10201E"/>
                </a:solidFill>
              </a:defRPr>
            </a:defPPr>
            <a:lvl1pPr>
              <a:defRPr sz="1500" b="1">
                <a:solidFill>
                  <a:srgbClr val="10201E"/>
                </a:solidFill>
              </a:defRPr>
            </a:lvl1pPr>
            <a:lvl2pPr>
              <a:defRPr sz="1500" b="1">
                <a:solidFill>
                  <a:srgbClr val="10201E"/>
                </a:solidFill>
              </a:defRPr>
            </a:lvl2pPr>
            <a:lvl3pPr>
              <a:defRPr sz="1500" b="1">
                <a:solidFill>
                  <a:srgbClr val="10201E"/>
                </a:solidFill>
              </a:defRPr>
            </a:lvl3pPr>
            <a:lvl4pPr>
              <a:defRPr sz="1500" b="1">
                <a:solidFill>
                  <a:srgbClr val="10201E"/>
                </a:solidFill>
              </a:defRPr>
            </a:lvl4pPr>
            <a:lvl5pPr>
              <a:defRPr sz="1500" b="1">
                <a:solidFill>
                  <a:srgbClr val="10201E"/>
                </a:solidFill>
              </a:defRPr>
            </a:lvl5pPr>
            <a:lvl6pPr>
              <a:defRPr sz="1500" b="1">
                <a:solidFill>
                  <a:srgbClr val="10201E"/>
                </a:solidFill>
              </a:defRPr>
            </a:lvl6pPr>
            <a:lvl7pPr>
              <a:defRPr sz="1500" b="1">
                <a:solidFill>
                  <a:srgbClr val="10201E"/>
                </a:solidFill>
              </a:defRPr>
            </a:lvl7pPr>
            <a:lvl8pPr>
              <a:defRPr sz="1500" b="1">
                <a:solidFill>
                  <a:srgbClr val="10201E"/>
                </a:solidFill>
              </a:defRPr>
            </a:lvl8pPr>
            <a:lvl9pPr>
              <a:defRPr sz="1500" b="1">
                <a:solidFill>
                  <a:srgbClr val="10201E"/>
                </a:solidFill>
              </a:defRPr>
            </a:lvl9pPr>
          </a:lstStyle>
          <a:p>
            <a:pPr>
              <a:defRPr sz="1500" b="1">
                <a:solidFill>
                  <a:srgbClr val="10201E"/>
                </a:solidFill>
              </a:defRPr>
            </a:pPr>
            <a:r>
              <a:rPr sz="1500" b="1">
                <a:solidFill>
                  <a:srgbClr val="10201E"/>
                </a:solidFill>
              </a:rPr>
              <a:t>第一项工作：不直接复现模型，先核对“公开数据的粒度”是否足以支持论文的条件优化结论</a:t>
            </a:r>
            <a:endParaRPr sz="1500" b="1">
              <a:solidFill>
                <a:srgbClr val="10201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5" name="矩形 114"/>
          <p:cNvSpPr>
            <a:spLocks noGrp="1"/>
          </p:cNvSpPr>
          <p:nvPr/>
        </p:nvSpPr>
        <p:spPr>
          <a:xfrm>
            <a:off x="6477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10201E"/>
                </a:solidFill>
              </a:defRPr>
            </a:defPPr>
            <a:lvl1pPr>
              <a:defRPr sz="2850" b="1">
                <a:solidFill>
                  <a:srgbClr val="10201E"/>
                </a:solidFill>
              </a:defRPr>
            </a:lvl1pPr>
            <a:lvl2pPr>
              <a:defRPr sz="2850" b="1">
                <a:solidFill>
                  <a:srgbClr val="10201E"/>
                </a:solidFill>
              </a:defRPr>
            </a:lvl2pPr>
            <a:lvl3pPr>
              <a:defRPr sz="2850" b="1">
                <a:solidFill>
                  <a:srgbClr val="10201E"/>
                </a:solidFill>
              </a:defRPr>
            </a:lvl3pPr>
            <a:lvl4pPr>
              <a:defRPr sz="2850" b="1">
                <a:solidFill>
                  <a:srgbClr val="10201E"/>
                </a:solidFill>
              </a:defRPr>
            </a:lvl4pPr>
            <a:lvl5pPr>
              <a:defRPr sz="2850" b="1">
                <a:solidFill>
                  <a:srgbClr val="10201E"/>
                </a:solidFill>
              </a:defRPr>
            </a:lvl5pPr>
            <a:lvl6pPr>
              <a:defRPr sz="2850" b="1">
                <a:solidFill>
                  <a:srgbClr val="10201E"/>
                </a:solidFill>
              </a:defRPr>
            </a:lvl6pPr>
            <a:lvl7pPr>
              <a:defRPr sz="2850" b="1">
                <a:solidFill>
                  <a:srgbClr val="10201E"/>
                </a:solidFill>
              </a:defRPr>
            </a:lvl7pPr>
            <a:lvl8pPr>
              <a:defRPr sz="2850" b="1">
                <a:solidFill>
                  <a:srgbClr val="10201E"/>
                </a:solidFill>
              </a:defRPr>
            </a:lvl8pPr>
            <a:lvl9pPr>
              <a:defRPr sz="2850" b="1">
                <a:solidFill>
                  <a:srgbClr val="10201E"/>
                </a:solidFill>
              </a:defRPr>
            </a:lvl9pPr>
          </a:lstStyle>
          <a:p>
            <a:pPr>
              <a:defRPr sz="2850" b="1">
                <a:solidFill>
                  <a:srgbClr val="10201E"/>
                </a:solidFill>
              </a:defRPr>
            </a:pPr>
            <a:r>
              <a:rPr sz="2850" b="1">
                <a:solidFill>
                  <a:srgbClr val="10201E"/>
                </a:solidFill>
              </a:rPr>
              <a:t>从补充 PDF 到可训练数据表</a:t>
            </a:r>
            <a:endParaRPr sz="2850" b="1">
              <a:solidFill>
                <a:srgbClr val="10201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620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86861"/>
                </a:solidFill>
              </a:defRPr>
            </a:defPPr>
            <a:lvl1pPr>
              <a:defRPr sz="1275" b="0">
                <a:solidFill>
                  <a:srgbClr val="586861"/>
                </a:solidFill>
              </a:defRPr>
            </a:lvl1pPr>
            <a:lvl2pPr>
              <a:defRPr sz="1275" b="0">
                <a:solidFill>
                  <a:srgbClr val="586861"/>
                </a:solidFill>
              </a:defRPr>
            </a:lvl2pPr>
            <a:lvl3pPr>
              <a:defRPr sz="1275" b="0">
                <a:solidFill>
                  <a:srgbClr val="586861"/>
                </a:solidFill>
              </a:defRPr>
            </a:lvl3pPr>
            <a:lvl4pPr>
              <a:defRPr sz="1275" b="0">
                <a:solidFill>
                  <a:srgbClr val="586861"/>
                </a:solidFill>
              </a:defRPr>
            </a:lvl4pPr>
            <a:lvl5pPr>
              <a:defRPr sz="1275" b="0">
                <a:solidFill>
                  <a:srgbClr val="586861"/>
                </a:solidFill>
              </a:defRPr>
            </a:lvl5pPr>
            <a:lvl6pPr>
              <a:defRPr sz="1275" b="0">
                <a:solidFill>
                  <a:srgbClr val="586861"/>
                </a:solidFill>
              </a:defRPr>
            </a:lvl6pPr>
            <a:lvl7pPr>
              <a:defRPr sz="1275" b="0">
                <a:solidFill>
                  <a:srgbClr val="586861"/>
                </a:solidFill>
              </a:defRPr>
            </a:lvl7pPr>
            <a:lvl8pPr>
              <a:defRPr sz="1275" b="0">
                <a:solidFill>
                  <a:srgbClr val="586861"/>
                </a:solidFill>
              </a:defRPr>
            </a:lvl8pPr>
            <a:lvl9pPr>
              <a:defRPr sz="1275" b="0">
                <a:solidFill>
                  <a:srgbClr val="586861"/>
                </a:solidFill>
              </a:defRPr>
            </a:lvl9pPr>
          </a:lstStyle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PDF 只提供排版表格，先重建行记录，再保留原始单元格与解析结果</a:t>
            </a:r>
            <a:endParaRPr sz="1275" b="0">
              <a:solidFill>
                <a:srgbClr val="586861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1438275"/>
            <a:ext cx="2095500" cy="685800"/>
          </a:xfrm>
          <a:prstGeom prst="roundRect">
            <a:avLst>
              <a:gd name="adj" fmla="val 11111"/>
            </a:avLst>
          </a:prstGeom>
          <a:solidFill>
            <a:srgbClr val="E9F3EC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5621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0201E"/>
                </a:solidFill>
              </a:defRPr>
            </a:defPPr>
            <a:lvl1pPr>
              <a:defRPr sz="1275" b="1">
                <a:solidFill>
                  <a:srgbClr val="10201E"/>
                </a:solidFill>
              </a:defRPr>
            </a:lvl1pPr>
            <a:lvl2pPr>
              <a:defRPr sz="1275" b="1">
                <a:solidFill>
                  <a:srgbClr val="10201E"/>
                </a:solidFill>
              </a:defRPr>
            </a:lvl2pPr>
            <a:lvl3pPr>
              <a:defRPr sz="1275" b="1">
                <a:solidFill>
                  <a:srgbClr val="10201E"/>
                </a:solidFill>
              </a:defRPr>
            </a:lvl3pPr>
            <a:lvl4pPr>
              <a:defRPr sz="1275" b="1">
                <a:solidFill>
                  <a:srgbClr val="10201E"/>
                </a:solidFill>
              </a:defRPr>
            </a:lvl4pPr>
            <a:lvl5pPr>
              <a:defRPr sz="1275" b="1">
                <a:solidFill>
                  <a:srgbClr val="10201E"/>
                </a:solidFill>
              </a:defRPr>
            </a:lvl5pPr>
            <a:lvl6pPr>
              <a:defRPr sz="1275" b="1">
                <a:solidFill>
                  <a:srgbClr val="10201E"/>
                </a:solidFill>
              </a:defRPr>
            </a:lvl6pPr>
            <a:lvl7pPr>
              <a:defRPr sz="1275" b="1">
                <a:solidFill>
                  <a:srgbClr val="10201E"/>
                </a:solidFill>
              </a:defRPr>
            </a:lvl7pPr>
            <a:lvl8pPr>
              <a:defRPr sz="1275" b="1">
                <a:solidFill>
                  <a:srgbClr val="10201E"/>
                </a:solidFill>
              </a:defRPr>
            </a:lvl8pPr>
            <a:lvl9pPr>
              <a:defRPr sz="1275" b="1">
                <a:solidFill>
                  <a:srgbClr val="10201E"/>
                </a:solidFill>
              </a:defRPr>
            </a:lvl9pPr>
          </a:lstStyle>
          <a:p>
            <a:pPr>
              <a:defRPr sz="1275" b="1">
                <a:solidFill>
                  <a:srgbClr val="10201E"/>
                </a:solidFill>
              </a:defRPr>
            </a:pPr>
            <a:r>
              <a:rPr sz="1275" b="1">
                <a:solidFill>
                  <a:srgbClr val="10201E"/>
                </a:solidFill>
              </a:rPr>
              <a:t>补充 PDF</a:t>
            </a:r>
            <a:endParaRPr sz="1275" b="1">
              <a:solidFill>
                <a:srgbClr val="10201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8097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586861"/>
                </a:solidFill>
              </a:defRPr>
            </a:defPPr>
            <a:lvl1pPr>
              <a:defRPr sz="975" b="0">
                <a:solidFill>
                  <a:srgbClr val="586861"/>
                </a:solidFill>
              </a:defRPr>
            </a:lvl1pPr>
            <a:lvl2pPr>
              <a:defRPr sz="975" b="0">
                <a:solidFill>
                  <a:srgbClr val="586861"/>
                </a:solidFill>
              </a:defRPr>
            </a:lvl2pPr>
            <a:lvl3pPr>
              <a:defRPr sz="975" b="0">
                <a:solidFill>
                  <a:srgbClr val="586861"/>
                </a:solidFill>
              </a:defRPr>
            </a:lvl3pPr>
            <a:lvl4pPr>
              <a:defRPr sz="975" b="0">
                <a:solidFill>
                  <a:srgbClr val="586861"/>
                </a:solidFill>
              </a:defRPr>
            </a:lvl4pPr>
            <a:lvl5pPr>
              <a:defRPr sz="975" b="0">
                <a:solidFill>
                  <a:srgbClr val="586861"/>
                </a:solidFill>
              </a:defRPr>
            </a:lvl5pPr>
            <a:lvl6pPr>
              <a:defRPr sz="975" b="0">
                <a:solidFill>
                  <a:srgbClr val="586861"/>
                </a:solidFill>
              </a:defRPr>
            </a:lvl6pPr>
            <a:lvl7pPr>
              <a:defRPr sz="975" b="0">
                <a:solidFill>
                  <a:srgbClr val="586861"/>
                </a:solidFill>
              </a:defRPr>
            </a:lvl7pPr>
            <a:lvl8pPr>
              <a:defRPr sz="975" b="0">
                <a:solidFill>
                  <a:srgbClr val="586861"/>
                </a:solidFill>
              </a:defRPr>
            </a:lvl8pPr>
            <a:lvl9pPr>
              <a:defRPr sz="975" b="0">
                <a:solidFill>
                  <a:srgbClr val="586861"/>
                </a:solidFill>
              </a:defRPr>
            </a:lvl9pPr>
          </a:lstStyle>
          <a:p>
            <a:pPr>
              <a:defRPr sz="975" b="0">
                <a:solidFill>
                  <a:srgbClr val="586861"/>
                </a:solidFill>
              </a:defRPr>
            </a:pPr>
            <a:r>
              <a:rPr sz="975" b="0">
                <a:solidFill>
                  <a:srgbClr val="586861"/>
                </a:solidFill>
              </a:rPr>
              <a:t>文字坐标</a:t>
            </a:r>
            <a:endParaRPr sz="975" b="0">
              <a:solidFill>
                <a:srgbClr val="58686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905125" y="16478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0D665C"/>
                </a:solidFill>
              </a:defRPr>
            </a:defPPr>
            <a:lvl1pPr>
              <a:defRPr sz="1800" b="1">
                <a:solidFill>
                  <a:srgbClr val="0D665C"/>
                </a:solidFill>
              </a:defRPr>
            </a:lvl1pPr>
            <a:lvl2pPr>
              <a:defRPr sz="1800" b="1">
                <a:solidFill>
                  <a:srgbClr val="0D665C"/>
                </a:solidFill>
              </a:defRPr>
            </a:lvl2pPr>
            <a:lvl3pPr>
              <a:defRPr sz="1800" b="1">
                <a:solidFill>
                  <a:srgbClr val="0D665C"/>
                </a:solidFill>
              </a:defRPr>
            </a:lvl3pPr>
            <a:lvl4pPr>
              <a:defRPr sz="1800" b="1">
                <a:solidFill>
                  <a:srgbClr val="0D665C"/>
                </a:solidFill>
              </a:defRPr>
            </a:lvl4pPr>
            <a:lvl5pPr>
              <a:defRPr sz="1800" b="1">
                <a:solidFill>
                  <a:srgbClr val="0D665C"/>
                </a:solidFill>
              </a:defRPr>
            </a:lvl5pPr>
            <a:lvl6pPr>
              <a:defRPr sz="1800" b="1">
                <a:solidFill>
                  <a:srgbClr val="0D665C"/>
                </a:solidFill>
              </a:defRPr>
            </a:lvl6pPr>
            <a:lvl7pPr>
              <a:defRPr sz="1800" b="1">
                <a:solidFill>
                  <a:srgbClr val="0D665C"/>
                </a:solidFill>
              </a:defRPr>
            </a:lvl7pPr>
            <a:lvl8pPr>
              <a:defRPr sz="1800" b="1">
                <a:solidFill>
                  <a:srgbClr val="0D665C"/>
                </a:solidFill>
              </a:defRPr>
            </a:lvl8pPr>
            <a:lvl9pPr>
              <a:defRPr sz="1800" b="1">
                <a:solidFill>
                  <a:srgbClr val="0D665C"/>
                </a:solidFill>
              </a:defRPr>
            </a:lvl9pPr>
          </a:lstStyle>
          <a:p>
            <a:pPr>
              <a:defRPr sz="1800" b="1">
                <a:solidFill>
                  <a:srgbClr val="0D665C"/>
                </a:solidFill>
              </a:defRPr>
            </a:pPr>
            <a:r>
              <a:rPr sz="1800" b="1">
                <a:solidFill>
                  <a:srgbClr val="0D665C"/>
                </a:solidFill>
              </a:rPr>
              <a:t>›</a:t>
            </a:r>
            <a:endParaRPr sz="1800" b="1">
              <a:solidFill>
                <a:srgbClr val="0D665C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3419475" y="1438275"/>
            <a:ext cx="2095500" cy="685800"/>
          </a:xfrm>
          <a:prstGeom prst="roundRect">
            <a:avLst>
              <a:gd name="adj" fmla="val 11111"/>
            </a:avLst>
          </a:prstGeom>
          <a:solidFill>
            <a:srgbClr val="E9F3EC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419475" y="15621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0201E"/>
                </a:solidFill>
              </a:defRPr>
            </a:defPPr>
            <a:lvl1pPr>
              <a:defRPr sz="1275" b="1">
                <a:solidFill>
                  <a:srgbClr val="10201E"/>
                </a:solidFill>
              </a:defRPr>
            </a:lvl1pPr>
            <a:lvl2pPr>
              <a:defRPr sz="1275" b="1">
                <a:solidFill>
                  <a:srgbClr val="10201E"/>
                </a:solidFill>
              </a:defRPr>
            </a:lvl2pPr>
            <a:lvl3pPr>
              <a:defRPr sz="1275" b="1">
                <a:solidFill>
                  <a:srgbClr val="10201E"/>
                </a:solidFill>
              </a:defRPr>
            </a:lvl3pPr>
            <a:lvl4pPr>
              <a:defRPr sz="1275" b="1">
                <a:solidFill>
                  <a:srgbClr val="10201E"/>
                </a:solidFill>
              </a:defRPr>
            </a:lvl4pPr>
            <a:lvl5pPr>
              <a:defRPr sz="1275" b="1">
                <a:solidFill>
                  <a:srgbClr val="10201E"/>
                </a:solidFill>
              </a:defRPr>
            </a:lvl5pPr>
            <a:lvl6pPr>
              <a:defRPr sz="1275" b="1">
                <a:solidFill>
                  <a:srgbClr val="10201E"/>
                </a:solidFill>
              </a:defRPr>
            </a:lvl6pPr>
            <a:lvl7pPr>
              <a:defRPr sz="1275" b="1">
                <a:solidFill>
                  <a:srgbClr val="10201E"/>
                </a:solidFill>
              </a:defRPr>
            </a:lvl7pPr>
            <a:lvl8pPr>
              <a:defRPr sz="1275" b="1">
                <a:solidFill>
                  <a:srgbClr val="10201E"/>
                </a:solidFill>
              </a:defRPr>
            </a:lvl8pPr>
            <a:lvl9pPr>
              <a:defRPr sz="1275" b="1">
                <a:solidFill>
                  <a:srgbClr val="10201E"/>
                </a:solidFill>
              </a:defRPr>
            </a:lvl9pPr>
          </a:lstStyle>
          <a:p>
            <a:pPr>
              <a:defRPr sz="1275" b="1">
                <a:solidFill>
                  <a:srgbClr val="10201E"/>
                </a:solidFill>
              </a:defRPr>
            </a:pPr>
            <a:r>
              <a:rPr sz="1275" b="1">
                <a:solidFill>
                  <a:srgbClr val="10201E"/>
                </a:solidFill>
              </a:rPr>
              <a:t>行锚点</a:t>
            </a:r>
            <a:endParaRPr sz="1275" b="1">
              <a:solidFill>
                <a:srgbClr val="10201E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19475" y="18097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586861"/>
                </a:solidFill>
              </a:defRPr>
            </a:defPPr>
            <a:lvl1pPr>
              <a:defRPr sz="975" b="0">
                <a:solidFill>
                  <a:srgbClr val="586861"/>
                </a:solidFill>
              </a:defRPr>
            </a:lvl1pPr>
            <a:lvl2pPr>
              <a:defRPr sz="975" b="0">
                <a:solidFill>
                  <a:srgbClr val="586861"/>
                </a:solidFill>
              </a:defRPr>
            </a:lvl2pPr>
            <a:lvl3pPr>
              <a:defRPr sz="975" b="0">
                <a:solidFill>
                  <a:srgbClr val="586861"/>
                </a:solidFill>
              </a:defRPr>
            </a:lvl3pPr>
            <a:lvl4pPr>
              <a:defRPr sz="975" b="0">
                <a:solidFill>
                  <a:srgbClr val="586861"/>
                </a:solidFill>
              </a:defRPr>
            </a:lvl4pPr>
            <a:lvl5pPr>
              <a:defRPr sz="975" b="0">
                <a:solidFill>
                  <a:srgbClr val="586861"/>
                </a:solidFill>
              </a:defRPr>
            </a:lvl5pPr>
            <a:lvl6pPr>
              <a:defRPr sz="975" b="0">
                <a:solidFill>
                  <a:srgbClr val="586861"/>
                </a:solidFill>
              </a:defRPr>
            </a:lvl6pPr>
            <a:lvl7pPr>
              <a:defRPr sz="975" b="0">
                <a:solidFill>
                  <a:srgbClr val="586861"/>
                </a:solidFill>
              </a:defRPr>
            </a:lvl7pPr>
            <a:lvl8pPr>
              <a:defRPr sz="975" b="0">
                <a:solidFill>
                  <a:srgbClr val="586861"/>
                </a:solidFill>
              </a:defRPr>
            </a:lvl8pPr>
            <a:lvl9pPr>
              <a:defRPr sz="975" b="0">
                <a:solidFill>
                  <a:srgbClr val="586861"/>
                </a:solidFill>
              </a:defRPr>
            </a:lvl9pPr>
          </a:lstStyle>
          <a:p>
            <a:pPr>
              <a:defRPr sz="975" b="0">
                <a:solidFill>
                  <a:srgbClr val="586861"/>
                </a:solidFill>
              </a:defRPr>
            </a:pPr>
            <a:r>
              <a:rPr sz="975" b="0">
                <a:solidFill>
                  <a:srgbClr val="586861"/>
                </a:solidFill>
              </a:rPr>
              <a:t>跨页重建</a:t>
            </a:r>
            <a:endParaRPr sz="975" b="0">
              <a:solidFill>
                <a:srgbClr val="58686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638800" y="16478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0D665C"/>
                </a:solidFill>
              </a:defRPr>
            </a:defPPr>
            <a:lvl1pPr>
              <a:defRPr sz="1800" b="1">
                <a:solidFill>
                  <a:srgbClr val="0D665C"/>
                </a:solidFill>
              </a:defRPr>
            </a:lvl1pPr>
            <a:lvl2pPr>
              <a:defRPr sz="1800" b="1">
                <a:solidFill>
                  <a:srgbClr val="0D665C"/>
                </a:solidFill>
              </a:defRPr>
            </a:lvl2pPr>
            <a:lvl3pPr>
              <a:defRPr sz="1800" b="1">
                <a:solidFill>
                  <a:srgbClr val="0D665C"/>
                </a:solidFill>
              </a:defRPr>
            </a:lvl3pPr>
            <a:lvl4pPr>
              <a:defRPr sz="1800" b="1">
                <a:solidFill>
                  <a:srgbClr val="0D665C"/>
                </a:solidFill>
              </a:defRPr>
            </a:lvl4pPr>
            <a:lvl5pPr>
              <a:defRPr sz="1800" b="1">
                <a:solidFill>
                  <a:srgbClr val="0D665C"/>
                </a:solidFill>
              </a:defRPr>
            </a:lvl5pPr>
            <a:lvl6pPr>
              <a:defRPr sz="1800" b="1">
                <a:solidFill>
                  <a:srgbClr val="0D665C"/>
                </a:solidFill>
              </a:defRPr>
            </a:lvl6pPr>
            <a:lvl7pPr>
              <a:defRPr sz="1800" b="1">
                <a:solidFill>
                  <a:srgbClr val="0D665C"/>
                </a:solidFill>
              </a:defRPr>
            </a:lvl7pPr>
            <a:lvl8pPr>
              <a:defRPr sz="1800" b="1">
                <a:solidFill>
                  <a:srgbClr val="0D665C"/>
                </a:solidFill>
              </a:defRPr>
            </a:lvl8pPr>
            <a:lvl9pPr>
              <a:defRPr sz="1800" b="1">
                <a:solidFill>
                  <a:srgbClr val="0D665C"/>
                </a:solidFill>
              </a:defRPr>
            </a:lvl9pPr>
          </a:lstStyle>
          <a:p>
            <a:pPr>
              <a:defRPr sz="1800" b="1">
                <a:solidFill>
                  <a:srgbClr val="0D665C"/>
                </a:solidFill>
              </a:defRPr>
            </a:pPr>
            <a:r>
              <a:rPr sz="1800" b="1">
                <a:solidFill>
                  <a:srgbClr val="0D665C"/>
                </a:solidFill>
              </a:rPr>
              <a:t>›</a:t>
            </a:r>
            <a:endParaRPr sz="1800" b="1">
              <a:solidFill>
                <a:srgbClr val="0D665C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153150" y="1438275"/>
            <a:ext cx="2095500" cy="685800"/>
          </a:xfrm>
          <a:prstGeom prst="roundRect">
            <a:avLst>
              <a:gd name="adj" fmla="val 11111"/>
            </a:avLst>
          </a:prstGeom>
          <a:solidFill>
            <a:srgbClr val="E9F3EC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153150" y="15621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0201E"/>
                </a:solidFill>
              </a:defRPr>
            </a:defPPr>
            <a:lvl1pPr>
              <a:defRPr sz="1275" b="1">
                <a:solidFill>
                  <a:srgbClr val="10201E"/>
                </a:solidFill>
              </a:defRPr>
            </a:lvl1pPr>
            <a:lvl2pPr>
              <a:defRPr sz="1275" b="1">
                <a:solidFill>
                  <a:srgbClr val="10201E"/>
                </a:solidFill>
              </a:defRPr>
            </a:lvl2pPr>
            <a:lvl3pPr>
              <a:defRPr sz="1275" b="1">
                <a:solidFill>
                  <a:srgbClr val="10201E"/>
                </a:solidFill>
              </a:defRPr>
            </a:lvl3pPr>
            <a:lvl4pPr>
              <a:defRPr sz="1275" b="1">
                <a:solidFill>
                  <a:srgbClr val="10201E"/>
                </a:solidFill>
              </a:defRPr>
            </a:lvl4pPr>
            <a:lvl5pPr>
              <a:defRPr sz="1275" b="1">
                <a:solidFill>
                  <a:srgbClr val="10201E"/>
                </a:solidFill>
              </a:defRPr>
            </a:lvl5pPr>
            <a:lvl6pPr>
              <a:defRPr sz="1275" b="1">
                <a:solidFill>
                  <a:srgbClr val="10201E"/>
                </a:solidFill>
              </a:defRPr>
            </a:lvl6pPr>
            <a:lvl7pPr>
              <a:defRPr sz="1275" b="1">
                <a:solidFill>
                  <a:srgbClr val="10201E"/>
                </a:solidFill>
              </a:defRPr>
            </a:lvl7pPr>
            <a:lvl8pPr>
              <a:defRPr sz="1275" b="1">
                <a:solidFill>
                  <a:srgbClr val="10201E"/>
                </a:solidFill>
              </a:defRPr>
            </a:lvl8pPr>
            <a:lvl9pPr>
              <a:defRPr sz="1275" b="1">
                <a:solidFill>
                  <a:srgbClr val="10201E"/>
                </a:solidFill>
              </a:defRPr>
            </a:lvl9pPr>
          </a:lstStyle>
          <a:p>
            <a:pPr>
              <a:defRPr sz="1275" b="1">
                <a:solidFill>
                  <a:srgbClr val="10201E"/>
                </a:solidFill>
              </a:defRPr>
            </a:pPr>
            <a:r>
              <a:rPr sz="1275" b="1">
                <a:solidFill>
                  <a:srgbClr val="10201E"/>
                </a:solidFill>
              </a:rPr>
              <a:t>单元格解析</a:t>
            </a:r>
            <a:endParaRPr sz="1275" b="1">
              <a:solidFill>
                <a:srgbClr val="10201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53150" y="18097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586861"/>
                </a:solidFill>
              </a:defRPr>
            </a:defPPr>
            <a:lvl1pPr>
              <a:defRPr sz="975" b="0">
                <a:solidFill>
                  <a:srgbClr val="586861"/>
                </a:solidFill>
              </a:defRPr>
            </a:lvl1pPr>
            <a:lvl2pPr>
              <a:defRPr sz="975" b="0">
                <a:solidFill>
                  <a:srgbClr val="586861"/>
                </a:solidFill>
              </a:defRPr>
            </a:lvl2pPr>
            <a:lvl3pPr>
              <a:defRPr sz="975" b="0">
                <a:solidFill>
                  <a:srgbClr val="586861"/>
                </a:solidFill>
              </a:defRPr>
            </a:lvl3pPr>
            <a:lvl4pPr>
              <a:defRPr sz="975" b="0">
                <a:solidFill>
                  <a:srgbClr val="586861"/>
                </a:solidFill>
              </a:defRPr>
            </a:lvl4pPr>
            <a:lvl5pPr>
              <a:defRPr sz="975" b="0">
                <a:solidFill>
                  <a:srgbClr val="586861"/>
                </a:solidFill>
              </a:defRPr>
            </a:lvl5pPr>
            <a:lvl6pPr>
              <a:defRPr sz="975" b="0">
                <a:solidFill>
                  <a:srgbClr val="586861"/>
                </a:solidFill>
              </a:defRPr>
            </a:lvl6pPr>
            <a:lvl7pPr>
              <a:defRPr sz="975" b="0">
                <a:solidFill>
                  <a:srgbClr val="586861"/>
                </a:solidFill>
              </a:defRPr>
            </a:lvl7pPr>
            <a:lvl8pPr>
              <a:defRPr sz="975" b="0">
                <a:solidFill>
                  <a:srgbClr val="586861"/>
                </a:solidFill>
              </a:defRPr>
            </a:lvl8pPr>
            <a:lvl9pPr>
              <a:defRPr sz="975" b="0">
                <a:solidFill>
                  <a:srgbClr val="586861"/>
                </a:solidFill>
              </a:defRPr>
            </a:lvl9pPr>
          </a:lstStyle>
          <a:p>
            <a:pPr>
              <a:defRPr sz="975" b="0">
                <a:solidFill>
                  <a:srgbClr val="586861"/>
                </a:solidFill>
              </a:defRPr>
            </a:pPr>
            <a:r>
              <a:rPr sz="975" b="0">
                <a:solidFill>
                  <a:srgbClr val="586861"/>
                </a:solidFill>
              </a:rPr>
              <a:t>数值 / 范围 / 文本</a:t>
            </a:r>
            <a:endParaRPr sz="975" b="0">
              <a:solidFill>
                <a:srgbClr val="586861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72475" y="16478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0D665C"/>
                </a:solidFill>
              </a:defRPr>
            </a:defPPr>
            <a:lvl1pPr>
              <a:defRPr sz="1800" b="1">
                <a:solidFill>
                  <a:srgbClr val="0D665C"/>
                </a:solidFill>
              </a:defRPr>
            </a:lvl1pPr>
            <a:lvl2pPr>
              <a:defRPr sz="1800" b="1">
                <a:solidFill>
                  <a:srgbClr val="0D665C"/>
                </a:solidFill>
              </a:defRPr>
            </a:lvl2pPr>
            <a:lvl3pPr>
              <a:defRPr sz="1800" b="1">
                <a:solidFill>
                  <a:srgbClr val="0D665C"/>
                </a:solidFill>
              </a:defRPr>
            </a:lvl3pPr>
            <a:lvl4pPr>
              <a:defRPr sz="1800" b="1">
                <a:solidFill>
                  <a:srgbClr val="0D665C"/>
                </a:solidFill>
              </a:defRPr>
            </a:lvl4pPr>
            <a:lvl5pPr>
              <a:defRPr sz="1800" b="1">
                <a:solidFill>
                  <a:srgbClr val="0D665C"/>
                </a:solidFill>
              </a:defRPr>
            </a:lvl5pPr>
            <a:lvl6pPr>
              <a:defRPr sz="1800" b="1">
                <a:solidFill>
                  <a:srgbClr val="0D665C"/>
                </a:solidFill>
              </a:defRPr>
            </a:lvl6pPr>
            <a:lvl7pPr>
              <a:defRPr sz="1800" b="1">
                <a:solidFill>
                  <a:srgbClr val="0D665C"/>
                </a:solidFill>
              </a:defRPr>
            </a:lvl7pPr>
            <a:lvl8pPr>
              <a:defRPr sz="1800" b="1">
                <a:solidFill>
                  <a:srgbClr val="0D665C"/>
                </a:solidFill>
              </a:defRPr>
            </a:lvl8pPr>
            <a:lvl9pPr>
              <a:defRPr sz="1800" b="1">
                <a:solidFill>
                  <a:srgbClr val="0D665C"/>
                </a:solidFill>
              </a:defRPr>
            </a:lvl9pPr>
          </a:lstStyle>
          <a:p>
            <a:pPr>
              <a:defRPr sz="1800" b="1">
                <a:solidFill>
                  <a:srgbClr val="0D665C"/>
                </a:solidFill>
              </a:defRPr>
            </a:pPr>
            <a:r>
              <a:rPr sz="1800" b="1">
                <a:solidFill>
                  <a:srgbClr val="0D665C"/>
                </a:solidFill>
              </a:rPr>
              <a:t>›</a:t>
            </a:r>
            <a:endParaRPr sz="1800" b="1">
              <a:solidFill>
                <a:srgbClr val="0D665C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886825" y="1438275"/>
            <a:ext cx="2095500" cy="685800"/>
          </a:xfrm>
          <a:prstGeom prst="roundRect">
            <a:avLst>
              <a:gd name="adj" fmla="val 11111"/>
            </a:avLst>
          </a:prstGeom>
          <a:solidFill>
            <a:srgbClr val="0D665C"/>
          </a:solidFill>
          <a:ln w="9525">
            <a:solidFill>
              <a:srgbClr val="0D665C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886825" y="156210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CSV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886825" y="180975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字段校验</a:t>
            </a:r>
            <a:endParaRPr sz="975" b="0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2743200"/>
            <a:ext cx="523875" cy="4095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7065" y="2781300"/>
            <a:ext cx="50609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row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152525" y="2743200"/>
            <a:ext cx="1238250" cy="4095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228725" y="2781300"/>
            <a:ext cx="123888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signal</a:t>
            </a:r>
            <a:r>
              <a:rPr lang="en-US" sz="1125" b="1">
                <a:solidFill>
                  <a:srgbClr val="FFFFFF"/>
                </a:solidFill>
              </a:rPr>
              <a:t> </a:t>
            </a:r>
            <a:r>
              <a:rPr sz="1125" b="1">
                <a:solidFill>
                  <a:srgbClr val="FFFFFF"/>
                </a:solidFill>
              </a:rPr>
              <a:t>peptide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390775" y="2743200"/>
            <a:ext cx="2905125" cy="4095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2466975" y="2781300"/>
            <a:ext cx="27527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sequence（截断展示）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295900" y="2743200"/>
            <a:ext cx="952500" cy="4095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5295900" y="2781300"/>
            <a:ext cx="8763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yield max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248400" y="2743200"/>
            <a:ext cx="904875" cy="4095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324600" y="2781300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OD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153275" y="2743200"/>
            <a:ext cx="904875" cy="4095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229475" y="2781300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IPTG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058150" y="2743200"/>
            <a:ext cx="904875" cy="4095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134350" y="2781300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temp.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963025" y="2743200"/>
            <a:ext cx="714375" cy="4095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9039225" y="2781300"/>
            <a:ext cx="5619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time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28650" y="3152775"/>
            <a:ext cx="52387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04850" y="3190875"/>
            <a:ext cx="371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1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152525" y="3152775"/>
            <a:ext cx="12382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228725" y="3190875"/>
            <a:ext cx="1085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ompA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390775" y="3152775"/>
            <a:ext cx="290512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2466975" y="3190875"/>
            <a:ext cx="27527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MKKTAIAIAVALAGFATVAQ…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295900" y="3152775"/>
            <a:ext cx="9525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372100" y="3190875"/>
            <a:ext cx="8001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692.8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248400" y="3152775"/>
            <a:ext cx="90487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324600" y="3190875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3.0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153275" y="3152775"/>
            <a:ext cx="90487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7229475" y="3190875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1.0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8058150" y="3152775"/>
            <a:ext cx="90487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8134350" y="3190875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20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963025" y="3152775"/>
            <a:ext cx="71437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9039225" y="3190875"/>
            <a:ext cx="5619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2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628650" y="3562350"/>
            <a:ext cx="523875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704850" y="3600450"/>
            <a:ext cx="371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2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152525" y="3562350"/>
            <a:ext cx="1238250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1228725" y="3600450"/>
            <a:ext cx="1085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phoA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2390775" y="3562350"/>
            <a:ext cx="2905125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2466975" y="3600450"/>
            <a:ext cx="27527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MKQSTIALALLPLLFTPVTK…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5295900" y="3562350"/>
            <a:ext cx="952500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5372100" y="3600450"/>
            <a:ext cx="8001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0.0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6248400" y="3562350"/>
            <a:ext cx="904875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6324600" y="3600450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0.5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7153275" y="3562350"/>
            <a:ext cx="904875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7229475" y="3600450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1.0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058150" y="3562350"/>
            <a:ext cx="904875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8134350" y="3600450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22/37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8963025" y="3562350"/>
            <a:ext cx="714375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9039225" y="3600450"/>
            <a:ext cx="5619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4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628650" y="3971925"/>
            <a:ext cx="52387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704850" y="4010025"/>
            <a:ext cx="371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3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1152525" y="3971925"/>
            <a:ext cx="12382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1228725" y="4010025"/>
            <a:ext cx="1085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pelB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2390775" y="3971925"/>
            <a:ext cx="290512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2466975" y="4010025"/>
            <a:ext cx="27527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MKYLLPTAAAGLLLLAAQP…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5295900" y="3971925"/>
            <a:ext cx="9525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5372100" y="4010025"/>
            <a:ext cx="8001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5.2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6248400" y="3971925"/>
            <a:ext cx="90487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6324600" y="4010025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0.5–0.6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7153275" y="3971925"/>
            <a:ext cx="90487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7229475" y="4010025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1.0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8058150" y="3971925"/>
            <a:ext cx="90487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8134350" y="4010025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16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8963025" y="3971925"/>
            <a:ext cx="71437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9039225" y="4010025"/>
            <a:ext cx="5619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24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628650" y="4381500"/>
            <a:ext cx="523875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704850" y="4419600"/>
            <a:ext cx="371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1152525" y="4381500"/>
            <a:ext cx="1238250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1228725" y="4419600"/>
            <a:ext cx="1085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2390775" y="4381500"/>
            <a:ext cx="2905125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2466975" y="4419600"/>
            <a:ext cx="27527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5295900" y="4381500"/>
            <a:ext cx="952500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5372100" y="4419600"/>
            <a:ext cx="8001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6248400" y="4381500"/>
            <a:ext cx="904875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6324600" y="4419600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7153275" y="4381500"/>
            <a:ext cx="904875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7229475" y="4419600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8058150" y="4381500"/>
            <a:ext cx="904875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8134350" y="4419600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8963025" y="4381500"/>
            <a:ext cx="714375" cy="4095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9039225" y="4419600"/>
            <a:ext cx="5619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628650" y="4791075"/>
            <a:ext cx="52387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704850" y="4829175"/>
            <a:ext cx="43370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103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1152525" y="4791075"/>
            <a:ext cx="123825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01" name="矩形 100"/>
          <p:cNvSpPr>
            <a:spLocks noGrp="1"/>
          </p:cNvSpPr>
          <p:nvPr/>
        </p:nvSpPr>
        <p:spPr>
          <a:xfrm>
            <a:off x="1228725" y="4829175"/>
            <a:ext cx="1085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2390775" y="4791075"/>
            <a:ext cx="290512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2466975" y="4829175"/>
            <a:ext cx="27527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5295900" y="4791075"/>
            <a:ext cx="952500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05" name="矩形 104"/>
          <p:cNvSpPr>
            <a:spLocks noGrp="1"/>
          </p:cNvSpPr>
          <p:nvPr/>
        </p:nvSpPr>
        <p:spPr>
          <a:xfrm>
            <a:off x="5372100" y="4829175"/>
            <a:ext cx="8001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06" name="矩形 105"/>
          <p:cNvSpPr>
            <a:spLocks noGrp="1"/>
          </p:cNvSpPr>
          <p:nvPr/>
        </p:nvSpPr>
        <p:spPr>
          <a:xfrm>
            <a:off x="6248400" y="4791075"/>
            <a:ext cx="90487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6324600" y="4829175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08" name="矩形 107"/>
          <p:cNvSpPr>
            <a:spLocks noGrp="1"/>
          </p:cNvSpPr>
          <p:nvPr/>
        </p:nvSpPr>
        <p:spPr>
          <a:xfrm>
            <a:off x="7153275" y="4791075"/>
            <a:ext cx="90487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09" name="矩形 108"/>
          <p:cNvSpPr>
            <a:spLocks noGrp="1"/>
          </p:cNvSpPr>
          <p:nvPr/>
        </p:nvSpPr>
        <p:spPr>
          <a:xfrm>
            <a:off x="7229475" y="4829175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10" name="矩形 109"/>
          <p:cNvSpPr>
            <a:spLocks noGrp="1"/>
          </p:cNvSpPr>
          <p:nvPr/>
        </p:nvSpPr>
        <p:spPr>
          <a:xfrm>
            <a:off x="8058150" y="4791075"/>
            <a:ext cx="90487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11" name="矩形 110"/>
          <p:cNvSpPr>
            <a:spLocks noGrp="1"/>
          </p:cNvSpPr>
          <p:nvPr/>
        </p:nvSpPr>
        <p:spPr>
          <a:xfrm>
            <a:off x="8134350" y="4829175"/>
            <a:ext cx="7524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8963025" y="4791075"/>
            <a:ext cx="714375" cy="4095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13" name="矩形 112"/>
          <p:cNvSpPr>
            <a:spLocks noGrp="1"/>
          </p:cNvSpPr>
          <p:nvPr/>
        </p:nvSpPr>
        <p:spPr>
          <a:xfrm>
            <a:off x="9039225" y="4829175"/>
            <a:ext cx="5619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…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14" name="矩形 113"/>
          <p:cNvSpPr>
            <a:spLocks noGrp="1"/>
          </p:cNvSpPr>
          <p:nvPr/>
        </p:nvSpPr>
        <p:spPr>
          <a:xfrm>
            <a:off x="838200" y="5381625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86861"/>
                </a:solidFill>
              </a:defRPr>
            </a:defPPr>
            <a:lvl1pPr>
              <a:defRPr sz="1275" b="0">
                <a:solidFill>
                  <a:srgbClr val="586861"/>
                </a:solidFill>
              </a:defRPr>
            </a:lvl1pPr>
            <a:lvl2pPr>
              <a:defRPr sz="1275" b="0">
                <a:solidFill>
                  <a:srgbClr val="586861"/>
                </a:solidFill>
              </a:defRPr>
            </a:lvl2pPr>
            <a:lvl3pPr>
              <a:defRPr sz="1275" b="0">
                <a:solidFill>
                  <a:srgbClr val="586861"/>
                </a:solidFill>
              </a:defRPr>
            </a:lvl3pPr>
            <a:lvl4pPr>
              <a:defRPr sz="1275" b="0">
                <a:solidFill>
                  <a:srgbClr val="586861"/>
                </a:solidFill>
              </a:defRPr>
            </a:lvl4pPr>
            <a:lvl5pPr>
              <a:defRPr sz="1275" b="0">
                <a:solidFill>
                  <a:srgbClr val="586861"/>
                </a:solidFill>
              </a:defRPr>
            </a:lvl5pPr>
            <a:lvl6pPr>
              <a:defRPr sz="1275" b="0">
                <a:solidFill>
                  <a:srgbClr val="586861"/>
                </a:solidFill>
              </a:defRPr>
            </a:lvl6pPr>
            <a:lvl7pPr>
              <a:defRPr sz="1275" b="0">
                <a:solidFill>
                  <a:srgbClr val="586861"/>
                </a:solidFill>
              </a:defRPr>
            </a:lvl7pPr>
            <a:lvl8pPr>
              <a:defRPr sz="1275" b="0">
                <a:solidFill>
                  <a:srgbClr val="586861"/>
                </a:solidFill>
              </a:defRPr>
            </a:lvl8pPr>
            <a:lvl9pPr>
              <a:defRPr sz="1275" b="0">
                <a:solidFill>
                  <a:srgbClr val="586861"/>
                </a:solidFill>
              </a:defRPr>
            </a:lvl9pPr>
          </a:lstStyle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完整 CSV 保留 103 行与完整 sequence 列。表中以截断序列和省略行展示数据结构。</a:t>
            </a:r>
            <a:endParaRPr sz="1275" b="0">
              <a:solidFill>
                <a:srgbClr val="58686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6477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10201E"/>
                </a:solidFill>
              </a:defRPr>
            </a:defPPr>
            <a:lvl1pPr>
              <a:defRPr sz="2850" b="1">
                <a:solidFill>
                  <a:srgbClr val="10201E"/>
                </a:solidFill>
              </a:defRPr>
            </a:lvl1pPr>
            <a:lvl2pPr>
              <a:defRPr sz="2850" b="1">
                <a:solidFill>
                  <a:srgbClr val="10201E"/>
                </a:solidFill>
              </a:defRPr>
            </a:lvl2pPr>
            <a:lvl3pPr>
              <a:defRPr sz="2850" b="1">
                <a:solidFill>
                  <a:srgbClr val="10201E"/>
                </a:solidFill>
              </a:defRPr>
            </a:lvl3pPr>
            <a:lvl4pPr>
              <a:defRPr sz="2850" b="1">
                <a:solidFill>
                  <a:srgbClr val="10201E"/>
                </a:solidFill>
              </a:defRPr>
            </a:lvl4pPr>
            <a:lvl5pPr>
              <a:defRPr sz="2850" b="1">
                <a:solidFill>
                  <a:srgbClr val="10201E"/>
                </a:solidFill>
              </a:defRPr>
            </a:lvl5pPr>
            <a:lvl6pPr>
              <a:defRPr sz="2850" b="1">
                <a:solidFill>
                  <a:srgbClr val="10201E"/>
                </a:solidFill>
              </a:defRPr>
            </a:lvl6pPr>
            <a:lvl7pPr>
              <a:defRPr sz="2850" b="1">
                <a:solidFill>
                  <a:srgbClr val="10201E"/>
                </a:solidFill>
              </a:defRPr>
            </a:lvl7pPr>
            <a:lvl8pPr>
              <a:defRPr sz="2850" b="1">
                <a:solidFill>
                  <a:srgbClr val="10201E"/>
                </a:solidFill>
              </a:defRPr>
            </a:lvl8pPr>
            <a:lvl9pPr>
              <a:defRPr sz="2850" b="1">
                <a:solidFill>
                  <a:srgbClr val="10201E"/>
                </a:solidFill>
              </a:defRPr>
            </a:lvl9pPr>
          </a:lstStyle>
          <a:p>
            <a:pPr>
              <a:defRPr sz="2850" b="1">
                <a:solidFill>
                  <a:srgbClr val="10201E"/>
                </a:solidFill>
              </a:defRPr>
            </a:pPr>
            <a:r>
              <a:rPr sz="2850" b="1">
                <a:solidFill>
                  <a:srgbClr val="10201E"/>
                </a:solidFill>
              </a:rPr>
              <a:t>公开数据</a:t>
            </a:r>
            <a:r>
              <a:rPr lang="zh-CN" sz="2850" b="1">
                <a:solidFill>
                  <a:srgbClr val="10201E"/>
                </a:solidFill>
              </a:rPr>
              <a:t>观测</a:t>
            </a:r>
            <a:endParaRPr lang="zh-CN" sz="2850" b="1">
              <a:solidFill>
                <a:srgbClr val="10201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620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86861"/>
                </a:solidFill>
              </a:defRPr>
            </a:defPPr>
            <a:lvl1pPr>
              <a:defRPr sz="1275" b="0">
                <a:solidFill>
                  <a:srgbClr val="586861"/>
                </a:solidFill>
              </a:defRPr>
            </a:lvl1pPr>
            <a:lvl2pPr>
              <a:defRPr sz="1275" b="0">
                <a:solidFill>
                  <a:srgbClr val="586861"/>
                </a:solidFill>
              </a:defRPr>
            </a:lvl2pPr>
            <a:lvl3pPr>
              <a:defRPr sz="1275" b="0">
                <a:solidFill>
                  <a:srgbClr val="586861"/>
                </a:solidFill>
              </a:defRPr>
            </a:lvl3pPr>
            <a:lvl4pPr>
              <a:defRPr sz="1275" b="0">
                <a:solidFill>
                  <a:srgbClr val="586861"/>
                </a:solidFill>
              </a:defRPr>
            </a:lvl4pPr>
            <a:lvl5pPr>
              <a:defRPr sz="1275" b="0">
                <a:solidFill>
                  <a:srgbClr val="586861"/>
                </a:solidFill>
              </a:defRPr>
            </a:lvl5pPr>
            <a:lvl6pPr>
              <a:defRPr sz="1275" b="0">
                <a:solidFill>
                  <a:srgbClr val="586861"/>
                </a:solidFill>
              </a:defRPr>
            </a:lvl6pPr>
            <a:lvl7pPr>
              <a:defRPr sz="1275" b="0">
                <a:solidFill>
                  <a:srgbClr val="586861"/>
                </a:solidFill>
              </a:defRPr>
            </a:lvl7pPr>
            <a:lvl8pPr>
              <a:defRPr sz="1275" b="0">
                <a:solidFill>
                  <a:srgbClr val="586861"/>
                </a:solidFill>
              </a:defRPr>
            </a:lvl8pPr>
            <a:lvl9pPr>
              <a:defRPr sz="1275" b="0">
                <a:solidFill>
                  <a:srgbClr val="586861"/>
                </a:solidFill>
              </a:defRPr>
            </a:lvl9pPr>
          </a:lstStyle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公开表记录的是构建体的最佳结果，不是完整的逐条件响应面</a:t>
            </a:r>
            <a:endParaRPr sz="1275" b="0">
              <a:solidFill>
                <a:srgbClr val="586861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1047750" y="4895850"/>
            <a:ext cx="4210050" cy="0"/>
          </a:xfrm>
          <a:prstGeom prst="line">
            <a:avLst/>
          </a:prstGeom>
          <a:ln w="19050">
            <a:solidFill>
              <a:srgbClr val="D6E2D9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619250" y="2047875"/>
            <a:ext cx="1095375" cy="2847975"/>
          </a:xfrm>
          <a:prstGeom prst="rect">
            <a:avLst/>
          </a:prstGeom>
          <a:solidFill>
            <a:srgbClr val="0D665C"/>
          </a:solidFill>
          <a:ln w="9525">
            <a:solidFill>
              <a:srgbClr val="0D665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476625" y="4257675"/>
            <a:ext cx="1095375" cy="638175"/>
          </a:xfrm>
          <a:prstGeom prst="rect">
            <a:avLst/>
          </a:prstGeom>
          <a:solidFill>
            <a:srgbClr val="1D8878"/>
          </a:solidFill>
          <a:ln w="9525">
            <a:solidFill>
              <a:srgbClr val="1D887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619250" y="1666875"/>
            <a:ext cx="1095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D665C"/>
                </a:solidFill>
              </a:defRPr>
            </a:defPPr>
            <a:lvl1pPr>
              <a:defRPr sz="1875" b="1">
                <a:solidFill>
                  <a:srgbClr val="0D665C"/>
                </a:solidFill>
              </a:defRPr>
            </a:lvl1pPr>
            <a:lvl2pPr>
              <a:defRPr sz="1875" b="1">
                <a:solidFill>
                  <a:srgbClr val="0D665C"/>
                </a:solidFill>
              </a:defRPr>
            </a:lvl2pPr>
            <a:lvl3pPr>
              <a:defRPr sz="1875" b="1">
                <a:solidFill>
                  <a:srgbClr val="0D665C"/>
                </a:solidFill>
              </a:defRPr>
            </a:lvl3pPr>
            <a:lvl4pPr>
              <a:defRPr sz="1875" b="1">
                <a:solidFill>
                  <a:srgbClr val="0D665C"/>
                </a:solidFill>
              </a:defRPr>
            </a:lvl4pPr>
            <a:lvl5pPr>
              <a:defRPr sz="1875" b="1">
                <a:solidFill>
                  <a:srgbClr val="0D665C"/>
                </a:solidFill>
              </a:defRPr>
            </a:lvl5pPr>
            <a:lvl6pPr>
              <a:defRPr sz="1875" b="1">
                <a:solidFill>
                  <a:srgbClr val="0D665C"/>
                </a:solidFill>
              </a:defRPr>
            </a:lvl6pPr>
            <a:lvl7pPr>
              <a:defRPr sz="1875" b="1">
                <a:solidFill>
                  <a:srgbClr val="0D665C"/>
                </a:solidFill>
              </a:defRPr>
            </a:lvl7pPr>
            <a:lvl8pPr>
              <a:defRPr sz="1875" b="1">
                <a:solidFill>
                  <a:srgbClr val="0D665C"/>
                </a:solidFill>
              </a:defRPr>
            </a:lvl8pPr>
            <a:lvl9pPr>
              <a:defRPr sz="1875" b="1">
                <a:solidFill>
                  <a:srgbClr val="0D665C"/>
                </a:solidFill>
              </a:defRPr>
            </a:lvl9pPr>
          </a:lstStyle>
          <a:p>
            <a:pPr>
              <a:defRPr sz="1875" b="1">
                <a:solidFill>
                  <a:srgbClr val="0D665C"/>
                </a:solidFill>
              </a:defRPr>
            </a:pPr>
            <a:r>
              <a:rPr sz="1875" b="1">
                <a:solidFill>
                  <a:srgbClr val="0D665C"/>
                </a:solidFill>
              </a:rPr>
              <a:t>461</a:t>
            </a:r>
            <a:endParaRPr sz="1875" b="1">
              <a:solidFill>
                <a:srgbClr val="0D665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476625" y="3876675"/>
            <a:ext cx="1095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D8878"/>
                </a:solidFill>
              </a:defRPr>
            </a:defPPr>
            <a:lvl1pPr>
              <a:defRPr sz="1875" b="1">
                <a:solidFill>
                  <a:srgbClr val="1D8878"/>
                </a:solidFill>
              </a:defRPr>
            </a:lvl1pPr>
            <a:lvl2pPr>
              <a:defRPr sz="1875" b="1">
                <a:solidFill>
                  <a:srgbClr val="1D8878"/>
                </a:solidFill>
              </a:defRPr>
            </a:lvl2pPr>
            <a:lvl3pPr>
              <a:defRPr sz="1875" b="1">
                <a:solidFill>
                  <a:srgbClr val="1D8878"/>
                </a:solidFill>
              </a:defRPr>
            </a:lvl3pPr>
            <a:lvl4pPr>
              <a:defRPr sz="1875" b="1">
                <a:solidFill>
                  <a:srgbClr val="1D8878"/>
                </a:solidFill>
              </a:defRPr>
            </a:lvl4pPr>
            <a:lvl5pPr>
              <a:defRPr sz="1875" b="1">
                <a:solidFill>
                  <a:srgbClr val="1D8878"/>
                </a:solidFill>
              </a:defRPr>
            </a:lvl5pPr>
            <a:lvl6pPr>
              <a:defRPr sz="1875" b="1">
                <a:solidFill>
                  <a:srgbClr val="1D8878"/>
                </a:solidFill>
              </a:defRPr>
            </a:lvl6pPr>
            <a:lvl7pPr>
              <a:defRPr sz="1875" b="1">
                <a:solidFill>
                  <a:srgbClr val="1D8878"/>
                </a:solidFill>
              </a:defRPr>
            </a:lvl7pPr>
            <a:lvl8pPr>
              <a:defRPr sz="1875" b="1">
                <a:solidFill>
                  <a:srgbClr val="1D8878"/>
                </a:solidFill>
              </a:defRPr>
            </a:lvl8pPr>
            <a:lvl9pPr>
              <a:defRPr sz="1875" b="1">
                <a:solidFill>
                  <a:srgbClr val="1D8878"/>
                </a:solidFill>
              </a:defRPr>
            </a:lvl9pPr>
          </a:lstStyle>
          <a:p>
            <a:pPr>
              <a:defRPr sz="1875" b="1">
                <a:solidFill>
                  <a:srgbClr val="1D8878"/>
                </a:solidFill>
              </a:defRPr>
            </a:pPr>
            <a:r>
              <a:rPr sz="1875" b="1">
                <a:solidFill>
                  <a:srgbClr val="1D8878"/>
                </a:solidFill>
              </a:rPr>
              <a:t>103</a:t>
            </a:r>
            <a:endParaRPr sz="1875" b="1">
              <a:solidFill>
                <a:srgbClr val="1D8878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85875" y="5086350"/>
            <a:ext cx="1762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86861"/>
                </a:solidFill>
              </a:defRPr>
            </a:defPPr>
            <a:lvl1pPr>
              <a:defRPr sz="1200" b="0">
                <a:solidFill>
                  <a:srgbClr val="586861"/>
                </a:solidFill>
              </a:defRPr>
            </a:lvl1pPr>
            <a:lvl2pPr>
              <a:defRPr sz="1200" b="0">
                <a:solidFill>
                  <a:srgbClr val="586861"/>
                </a:solidFill>
              </a:defRPr>
            </a:lvl2pPr>
            <a:lvl3pPr>
              <a:defRPr sz="1200" b="0">
                <a:solidFill>
                  <a:srgbClr val="586861"/>
                </a:solidFill>
              </a:defRPr>
            </a:lvl3pPr>
            <a:lvl4pPr>
              <a:defRPr sz="1200" b="0">
                <a:solidFill>
                  <a:srgbClr val="586861"/>
                </a:solidFill>
              </a:defRPr>
            </a:lvl4pPr>
            <a:lvl5pPr>
              <a:defRPr sz="1200" b="0">
                <a:solidFill>
                  <a:srgbClr val="586861"/>
                </a:solidFill>
              </a:defRPr>
            </a:lvl5pPr>
            <a:lvl6pPr>
              <a:defRPr sz="1200" b="0">
                <a:solidFill>
                  <a:srgbClr val="586861"/>
                </a:solidFill>
              </a:defRPr>
            </a:lvl6pPr>
            <a:lvl7pPr>
              <a:defRPr sz="1200" b="0">
                <a:solidFill>
                  <a:srgbClr val="586861"/>
                </a:solidFill>
              </a:defRPr>
            </a:lvl7pPr>
            <a:lvl8pPr>
              <a:defRPr sz="1200" b="0">
                <a:solidFill>
                  <a:srgbClr val="586861"/>
                </a:solidFill>
              </a:defRPr>
            </a:lvl8pPr>
            <a:lvl9pPr>
              <a:defRPr sz="1200" b="0">
                <a:solidFill>
                  <a:srgbClr val="586861"/>
                </a:solidFill>
              </a:defRPr>
            </a:lvl9pPr>
          </a:lstStyle>
          <a:p>
            <a:pPr>
              <a:defRPr sz="1200" b="0">
                <a:solidFill>
                  <a:srgbClr val="586861"/>
                </a:solidFill>
              </a:defRPr>
            </a:pPr>
            <a:r>
              <a:rPr sz="1200" b="0">
                <a:solidFill>
                  <a:srgbClr val="586861"/>
                </a:solidFill>
              </a:rPr>
              <a:t>论文描述的</a:t>
            </a:r>
            <a:endParaRPr sz="1200" b="0">
              <a:solidFill>
                <a:srgbClr val="586861"/>
              </a:solidFill>
            </a:endParaRPr>
          </a:p>
          <a:p>
            <a:pPr>
              <a:defRPr sz="1200" b="0">
                <a:solidFill>
                  <a:srgbClr val="586861"/>
                </a:solidFill>
              </a:defRPr>
            </a:pPr>
            <a:r>
              <a:rPr sz="1200" b="0">
                <a:solidFill>
                  <a:srgbClr val="586861"/>
                </a:solidFill>
              </a:rPr>
              <a:t>逐条件记录</a:t>
            </a:r>
            <a:endParaRPr sz="1200" b="0">
              <a:solidFill>
                <a:srgbClr val="58686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209925" y="508635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86861"/>
                </a:solidFill>
              </a:defRPr>
            </a:defPPr>
            <a:lvl1pPr>
              <a:defRPr sz="1200" b="0">
                <a:solidFill>
                  <a:srgbClr val="586861"/>
                </a:solidFill>
              </a:defRPr>
            </a:lvl1pPr>
            <a:lvl2pPr>
              <a:defRPr sz="1200" b="0">
                <a:solidFill>
                  <a:srgbClr val="586861"/>
                </a:solidFill>
              </a:defRPr>
            </a:lvl2pPr>
            <a:lvl3pPr>
              <a:defRPr sz="1200" b="0">
                <a:solidFill>
                  <a:srgbClr val="586861"/>
                </a:solidFill>
              </a:defRPr>
            </a:lvl3pPr>
            <a:lvl4pPr>
              <a:defRPr sz="1200" b="0">
                <a:solidFill>
                  <a:srgbClr val="586861"/>
                </a:solidFill>
              </a:defRPr>
            </a:lvl4pPr>
            <a:lvl5pPr>
              <a:defRPr sz="1200" b="0">
                <a:solidFill>
                  <a:srgbClr val="586861"/>
                </a:solidFill>
              </a:defRPr>
            </a:lvl5pPr>
            <a:lvl6pPr>
              <a:defRPr sz="1200" b="0">
                <a:solidFill>
                  <a:srgbClr val="586861"/>
                </a:solidFill>
              </a:defRPr>
            </a:lvl6pPr>
            <a:lvl7pPr>
              <a:defRPr sz="1200" b="0">
                <a:solidFill>
                  <a:srgbClr val="586861"/>
                </a:solidFill>
              </a:defRPr>
            </a:lvl7pPr>
            <a:lvl8pPr>
              <a:defRPr sz="1200" b="0">
                <a:solidFill>
                  <a:srgbClr val="586861"/>
                </a:solidFill>
              </a:defRPr>
            </a:lvl8pPr>
            <a:lvl9pPr>
              <a:defRPr sz="1200" b="0">
                <a:solidFill>
                  <a:srgbClr val="586861"/>
                </a:solidFill>
              </a:defRPr>
            </a:lvl9pPr>
          </a:lstStyle>
          <a:p>
            <a:pPr>
              <a:defRPr sz="1200" b="0">
                <a:solidFill>
                  <a:srgbClr val="586861"/>
                </a:solidFill>
              </a:defRPr>
            </a:pPr>
            <a:r>
              <a:rPr sz="1200" b="0">
                <a:solidFill>
                  <a:srgbClr val="586861"/>
                </a:solidFill>
              </a:rPr>
              <a:t>公开表的</a:t>
            </a:r>
            <a:endParaRPr sz="1200" b="0">
              <a:solidFill>
                <a:srgbClr val="586861"/>
              </a:solidFill>
            </a:endParaRPr>
          </a:p>
          <a:p>
            <a:pPr>
              <a:defRPr sz="1200" b="0">
                <a:solidFill>
                  <a:srgbClr val="586861"/>
                </a:solidFill>
              </a:defRPr>
            </a:pPr>
            <a:r>
              <a:rPr sz="1200" b="0">
                <a:solidFill>
                  <a:srgbClr val="586861"/>
                </a:solidFill>
              </a:rPr>
              <a:t>构建体记录</a:t>
            </a:r>
            <a:endParaRPr sz="1200" b="0">
              <a:solidFill>
                <a:srgbClr val="58686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515100" y="1600200"/>
            <a:ext cx="2762250" cy="42862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591300" y="1638300"/>
            <a:ext cx="2609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公开信息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277350" y="1600200"/>
            <a:ext cx="1714500" cy="42862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353550" y="1638300"/>
            <a:ext cx="1562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数量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15100" y="2028825"/>
            <a:ext cx="27622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591300" y="2066925"/>
            <a:ext cx="2609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总构建体记录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277350" y="2028825"/>
            <a:ext cx="1714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353550" y="2066925"/>
            <a:ext cx="1562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103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515100" y="2457450"/>
            <a:ext cx="2762250" cy="42862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591300" y="2495550"/>
            <a:ext cx="2609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四项</a:t>
            </a:r>
            <a:r>
              <a:rPr lang="zh-CN" sz="1050" b="0">
                <a:solidFill>
                  <a:srgbClr val="10201E"/>
                </a:solidFill>
              </a:rPr>
              <a:t>工艺</a:t>
            </a:r>
            <a:r>
              <a:rPr sz="1050" b="0">
                <a:solidFill>
                  <a:srgbClr val="10201E"/>
                </a:solidFill>
              </a:rPr>
              <a:t>条件均为</a:t>
            </a:r>
            <a:r>
              <a:rPr lang="zh-CN" sz="1050" b="0">
                <a:solidFill>
                  <a:srgbClr val="10201E"/>
                </a:solidFill>
              </a:rPr>
              <a:t>完整</a:t>
            </a:r>
            <a:r>
              <a:rPr sz="1050" b="0">
                <a:solidFill>
                  <a:srgbClr val="10201E"/>
                </a:solidFill>
              </a:rPr>
              <a:t>单值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277350" y="2457450"/>
            <a:ext cx="1714500" cy="42862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353550" y="2495550"/>
            <a:ext cx="1562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36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15100" y="2886075"/>
            <a:ext cx="276225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591300" y="2924175"/>
            <a:ext cx="2609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产量报告为范围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277350" y="2886075"/>
            <a:ext cx="1714500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353550" y="2924175"/>
            <a:ext cx="1562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20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515100" y="3314700"/>
            <a:ext cx="2762250" cy="42862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591300" y="3352800"/>
            <a:ext cx="2609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lang="zh-CN" sz="1050" b="0">
                <a:solidFill>
                  <a:srgbClr val="10201E"/>
                </a:solidFill>
              </a:rPr>
              <a:t>产量</a:t>
            </a:r>
            <a:r>
              <a:rPr sz="1050" b="0">
                <a:solidFill>
                  <a:srgbClr val="10201E"/>
                </a:solidFill>
              </a:rPr>
              <a:t>类别跨</a:t>
            </a:r>
            <a:r>
              <a:rPr lang="zh-CN" sz="1050" b="0">
                <a:solidFill>
                  <a:srgbClr val="10201E"/>
                </a:solidFill>
              </a:rPr>
              <a:t>低</a:t>
            </a:r>
            <a:r>
              <a:rPr lang="en-US" altLang="zh-CN" sz="1050" b="0">
                <a:solidFill>
                  <a:srgbClr val="10201E"/>
                </a:solidFill>
              </a:rPr>
              <a:t>/</a:t>
            </a:r>
            <a:r>
              <a:rPr lang="zh-CN" sz="1050" b="0">
                <a:solidFill>
                  <a:srgbClr val="10201E"/>
                </a:solidFill>
              </a:rPr>
              <a:t>中</a:t>
            </a:r>
            <a:r>
              <a:rPr lang="en-US" altLang="zh-CN" sz="1050" b="0">
                <a:solidFill>
                  <a:srgbClr val="10201E"/>
                </a:solidFill>
              </a:rPr>
              <a:t>/</a:t>
            </a:r>
            <a:r>
              <a:rPr lang="zh-CN" sz="1050" b="0">
                <a:solidFill>
                  <a:srgbClr val="10201E"/>
                </a:solidFill>
              </a:rPr>
              <a:t>高</a:t>
            </a:r>
            <a:r>
              <a:rPr sz="1050" b="0">
                <a:solidFill>
                  <a:srgbClr val="10201E"/>
                </a:solidFill>
              </a:rPr>
              <a:t>阈值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277350" y="3314700"/>
            <a:ext cx="1714500" cy="42862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353550" y="3352800"/>
            <a:ext cx="15621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10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990600" y="5772150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C85D3C"/>
                </a:solidFill>
              </a:defRPr>
            </a:defPPr>
            <a:lvl1pPr>
              <a:defRPr sz="1500" b="1">
                <a:solidFill>
                  <a:srgbClr val="C85D3C"/>
                </a:solidFill>
              </a:defRPr>
            </a:lvl1pPr>
            <a:lvl2pPr>
              <a:defRPr sz="1500" b="1">
                <a:solidFill>
                  <a:srgbClr val="C85D3C"/>
                </a:solidFill>
              </a:defRPr>
            </a:lvl2pPr>
            <a:lvl3pPr>
              <a:defRPr sz="1500" b="1">
                <a:solidFill>
                  <a:srgbClr val="C85D3C"/>
                </a:solidFill>
              </a:defRPr>
            </a:lvl3pPr>
            <a:lvl4pPr>
              <a:defRPr sz="1500" b="1">
                <a:solidFill>
                  <a:srgbClr val="C85D3C"/>
                </a:solidFill>
              </a:defRPr>
            </a:lvl4pPr>
            <a:lvl5pPr>
              <a:defRPr sz="1500" b="1">
                <a:solidFill>
                  <a:srgbClr val="C85D3C"/>
                </a:solidFill>
              </a:defRPr>
            </a:lvl5pPr>
            <a:lvl6pPr>
              <a:defRPr sz="1500" b="1">
                <a:solidFill>
                  <a:srgbClr val="C85D3C"/>
                </a:solidFill>
              </a:defRPr>
            </a:lvl6pPr>
            <a:lvl7pPr>
              <a:defRPr sz="1500" b="1">
                <a:solidFill>
                  <a:srgbClr val="C85D3C"/>
                </a:solidFill>
              </a:defRPr>
            </a:lvl7pPr>
            <a:lvl8pPr>
              <a:defRPr sz="1500" b="1">
                <a:solidFill>
                  <a:srgbClr val="C85D3C"/>
                </a:solidFill>
              </a:defRPr>
            </a:lvl8pPr>
            <a:lvl9pPr>
              <a:defRPr sz="1500" b="1">
                <a:solidFill>
                  <a:srgbClr val="C85D3C"/>
                </a:solidFill>
              </a:defRPr>
            </a:lvl9pPr>
          </a:lstStyle>
          <a:p>
            <a:pPr>
              <a:defRPr sz="1500" b="1">
                <a:solidFill>
                  <a:srgbClr val="C85D3C"/>
                </a:solidFill>
              </a:defRPr>
            </a:pPr>
            <a:r>
              <a:rPr sz="1500" b="1">
                <a:solidFill>
                  <a:srgbClr val="C85D3C"/>
                </a:solidFill>
              </a:rPr>
              <a:t>结论：公开数据可学习“构建体的最佳观测产量”，但不能可靠学习“哪套条件最好”。</a:t>
            </a:r>
            <a:endParaRPr sz="1500" b="1">
              <a:solidFill>
                <a:srgbClr val="C85D3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6477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10201E"/>
                </a:solidFill>
              </a:defRPr>
            </a:defPPr>
            <a:lvl1pPr>
              <a:defRPr sz="2850" b="1">
                <a:solidFill>
                  <a:srgbClr val="10201E"/>
                </a:solidFill>
              </a:defRPr>
            </a:lvl1pPr>
            <a:lvl2pPr>
              <a:defRPr sz="2850" b="1">
                <a:solidFill>
                  <a:srgbClr val="10201E"/>
                </a:solidFill>
              </a:defRPr>
            </a:lvl2pPr>
            <a:lvl3pPr>
              <a:defRPr sz="2850" b="1">
                <a:solidFill>
                  <a:srgbClr val="10201E"/>
                </a:solidFill>
              </a:defRPr>
            </a:lvl3pPr>
            <a:lvl4pPr>
              <a:defRPr sz="2850" b="1">
                <a:solidFill>
                  <a:srgbClr val="10201E"/>
                </a:solidFill>
              </a:defRPr>
            </a:lvl4pPr>
            <a:lvl5pPr>
              <a:defRPr sz="2850" b="1">
                <a:solidFill>
                  <a:srgbClr val="10201E"/>
                </a:solidFill>
              </a:defRPr>
            </a:lvl5pPr>
            <a:lvl6pPr>
              <a:defRPr sz="2850" b="1">
                <a:solidFill>
                  <a:srgbClr val="10201E"/>
                </a:solidFill>
              </a:defRPr>
            </a:lvl6pPr>
            <a:lvl7pPr>
              <a:defRPr sz="2850" b="1">
                <a:solidFill>
                  <a:srgbClr val="10201E"/>
                </a:solidFill>
              </a:defRPr>
            </a:lvl7pPr>
            <a:lvl8pPr>
              <a:defRPr sz="2850" b="1">
                <a:solidFill>
                  <a:srgbClr val="10201E"/>
                </a:solidFill>
              </a:defRPr>
            </a:lvl8pPr>
            <a:lvl9pPr>
              <a:defRPr sz="2850" b="1">
                <a:solidFill>
                  <a:srgbClr val="10201E"/>
                </a:solidFill>
              </a:defRPr>
            </a:lvl9pPr>
          </a:lstStyle>
          <a:p>
            <a:pPr>
              <a:defRPr sz="2850" b="1">
                <a:solidFill>
                  <a:srgbClr val="10201E"/>
                </a:solidFill>
              </a:defRPr>
            </a:pPr>
            <a:r>
              <a:rPr sz="2850" b="1">
                <a:solidFill>
                  <a:srgbClr val="10201E"/>
                </a:solidFill>
              </a:rPr>
              <a:t>可验证的问题定义</a:t>
            </a:r>
            <a:endParaRPr sz="2850" b="1">
              <a:solidFill>
                <a:srgbClr val="10201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620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86861"/>
                </a:solidFill>
              </a:defRPr>
            </a:defPPr>
            <a:lvl1pPr>
              <a:defRPr sz="1275" b="0">
                <a:solidFill>
                  <a:srgbClr val="586861"/>
                </a:solidFill>
              </a:defRPr>
            </a:lvl1pPr>
            <a:lvl2pPr>
              <a:defRPr sz="1275" b="0">
                <a:solidFill>
                  <a:srgbClr val="586861"/>
                </a:solidFill>
              </a:defRPr>
            </a:lvl2pPr>
            <a:lvl3pPr>
              <a:defRPr sz="1275" b="0">
                <a:solidFill>
                  <a:srgbClr val="586861"/>
                </a:solidFill>
              </a:defRPr>
            </a:lvl3pPr>
            <a:lvl4pPr>
              <a:defRPr sz="1275" b="0">
                <a:solidFill>
                  <a:srgbClr val="586861"/>
                </a:solidFill>
              </a:defRPr>
            </a:lvl4pPr>
            <a:lvl5pPr>
              <a:defRPr sz="1275" b="0">
                <a:solidFill>
                  <a:srgbClr val="586861"/>
                </a:solidFill>
              </a:defRPr>
            </a:lvl5pPr>
            <a:lvl6pPr>
              <a:defRPr sz="1275" b="0">
                <a:solidFill>
                  <a:srgbClr val="586861"/>
                </a:solidFill>
              </a:defRPr>
            </a:lvl6pPr>
            <a:lvl7pPr>
              <a:defRPr sz="1275" b="0">
                <a:solidFill>
                  <a:srgbClr val="586861"/>
                </a:solidFill>
              </a:defRPr>
            </a:lvl7pPr>
            <a:lvl8pPr>
              <a:defRPr sz="1275" b="0">
                <a:solidFill>
                  <a:srgbClr val="586861"/>
                </a:solidFill>
              </a:defRPr>
            </a:lvl8pPr>
            <a:lvl9pPr>
              <a:defRPr sz="1275" b="0">
                <a:solidFill>
                  <a:srgbClr val="586861"/>
                </a:solidFill>
              </a:defRPr>
            </a:lvl9pPr>
          </a:lstStyle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将论文的条件优化任务收缩为构建体实验优先级排序</a:t>
            </a:r>
            <a:endParaRPr sz="1275" b="0">
              <a:solidFill>
                <a:srgbClr val="5868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00100" y="1752600"/>
            <a:ext cx="1762125" cy="590550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90700"/>
            <a:ext cx="16097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562225" y="1752600"/>
            <a:ext cx="4000500" cy="590550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638425" y="1790700"/>
            <a:ext cx="3848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论文原始问题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562725" y="1752600"/>
            <a:ext cx="4095750" cy="590550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638925" y="1790700"/>
            <a:ext cx="3943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本项目可验证问题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0100" y="2343150"/>
            <a:ext cx="1762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2381250"/>
            <a:ext cx="16097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输入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562225" y="2343150"/>
            <a:ext cx="4000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638425" y="2381250"/>
            <a:ext cx="3848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单个构建体 + 多套条件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62725" y="2343150"/>
            <a:ext cx="4095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638925" y="2381250"/>
            <a:ext cx="3943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多个候选构建体序列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0100" y="2933700"/>
            <a:ext cx="1762125" cy="590550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2971800"/>
            <a:ext cx="16097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输出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562225" y="2933700"/>
            <a:ext cx="4000500" cy="590550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638425" y="2971800"/>
            <a:ext cx="3848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最佳条件 / 预测产量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62725" y="2933700"/>
            <a:ext cx="4095750" cy="590550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638925" y="2971800"/>
            <a:ext cx="3943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候选构建体排序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00100" y="3524250"/>
            <a:ext cx="1762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76300" y="3562350"/>
            <a:ext cx="16097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标签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562225" y="3524250"/>
            <a:ext cx="4000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638425" y="3562350"/>
            <a:ext cx="3848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每个条件下的实测产量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62725" y="3524250"/>
            <a:ext cx="4095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638925" y="3562350"/>
            <a:ext cx="3943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每个构建体的最佳观测产量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00100" y="4114800"/>
            <a:ext cx="1762125" cy="590550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76300" y="4152900"/>
            <a:ext cx="16097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结论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562225" y="4114800"/>
            <a:ext cx="4000500" cy="590550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638425" y="4152900"/>
            <a:ext cx="3848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公开数据不足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562725" y="4114800"/>
            <a:ext cx="4095750" cy="590550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638925" y="4152900"/>
            <a:ext cx="3943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可评估，但不能夸大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409700" y="5191125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D665C"/>
                </a:solidFill>
              </a:defRPr>
            </a:defPPr>
            <a:lvl1pPr>
              <a:defRPr sz="1500" b="1">
                <a:solidFill>
                  <a:srgbClr val="0D665C"/>
                </a:solidFill>
              </a:defRPr>
            </a:lvl1pPr>
            <a:lvl2pPr>
              <a:defRPr sz="1500" b="1">
                <a:solidFill>
                  <a:srgbClr val="0D665C"/>
                </a:solidFill>
              </a:defRPr>
            </a:lvl2pPr>
            <a:lvl3pPr>
              <a:defRPr sz="1500" b="1">
                <a:solidFill>
                  <a:srgbClr val="0D665C"/>
                </a:solidFill>
              </a:defRPr>
            </a:lvl3pPr>
            <a:lvl4pPr>
              <a:defRPr sz="1500" b="1">
                <a:solidFill>
                  <a:srgbClr val="0D665C"/>
                </a:solidFill>
              </a:defRPr>
            </a:lvl4pPr>
            <a:lvl5pPr>
              <a:defRPr sz="1500" b="1">
                <a:solidFill>
                  <a:srgbClr val="0D665C"/>
                </a:solidFill>
              </a:defRPr>
            </a:lvl5pPr>
            <a:lvl6pPr>
              <a:defRPr sz="1500" b="1">
                <a:solidFill>
                  <a:srgbClr val="0D665C"/>
                </a:solidFill>
              </a:defRPr>
            </a:lvl6pPr>
            <a:lvl7pPr>
              <a:defRPr sz="1500" b="1">
                <a:solidFill>
                  <a:srgbClr val="0D665C"/>
                </a:solidFill>
              </a:defRPr>
            </a:lvl7pPr>
            <a:lvl8pPr>
              <a:defRPr sz="1500" b="1">
                <a:solidFill>
                  <a:srgbClr val="0D665C"/>
                </a:solidFill>
              </a:defRPr>
            </a:lvl8pPr>
            <a:lvl9pPr>
              <a:defRPr sz="1500" b="1">
                <a:solidFill>
                  <a:srgbClr val="0D665C"/>
                </a:solidFill>
              </a:defRPr>
            </a:lvl9pPr>
          </a:lstStyle>
          <a:p>
            <a:pPr>
              <a:defRPr sz="1500" b="1">
                <a:solidFill>
                  <a:srgbClr val="0D665C"/>
                </a:solidFill>
              </a:defRPr>
            </a:pPr>
            <a:r>
              <a:rPr sz="1500" b="1">
                <a:solidFill>
                  <a:srgbClr val="0D665C"/>
                </a:solidFill>
              </a:rPr>
              <a:t>使用场景：从候选池中选择首批实验对象，而不是替实验人员指定</a:t>
            </a:r>
            <a:r>
              <a:rPr lang="zh-CN" sz="1500" b="1">
                <a:solidFill>
                  <a:srgbClr val="0D665C"/>
                </a:solidFill>
              </a:rPr>
              <a:t>工艺条件</a:t>
            </a:r>
            <a:r>
              <a:rPr sz="1500" b="1">
                <a:solidFill>
                  <a:srgbClr val="0D665C"/>
                </a:solidFill>
              </a:rPr>
              <a:t>。</a:t>
            </a:r>
            <a:endParaRPr sz="1500" b="1">
              <a:solidFill>
                <a:srgbClr val="0D665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6477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10201E"/>
                </a:solidFill>
              </a:defRPr>
            </a:defPPr>
            <a:lvl1pPr>
              <a:defRPr sz="2850" b="1">
                <a:solidFill>
                  <a:srgbClr val="10201E"/>
                </a:solidFill>
              </a:defRPr>
            </a:lvl1pPr>
            <a:lvl2pPr>
              <a:defRPr sz="2850" b="1">
                <a:solidFill>
                  <a:srgbClr val="10201E"/>
                </a:solidFill>
              </a:defRPr>
            </a:lvl2pPr>
            <a:lvl3pPr>
              <a:defRPr sz="2850" b="1">
                <a:solidFill>
                  <a:srgbClr val="10201E"/>
                </a:solidFill>
              </a:defRPr>
            </a:lvl3pPr>
            <a:lvl4pPr>
              <a:defRPr sz="2850" b="1">
                <a:solidFill>
                  <a:srgbClr val="10201E"/>
                </a:solidFill>
              </a:defRPr>
            </a:lvl4pPr>
            <a:lvl5pPr>
              <a:defRPr sz="2850" b="1">
                <a:solidFill>
                  <a:srgbClr val="10201E"/>
                </a:solidFill>
              </a:defRPr>
            </a:lvl5pPr>
            <a:lvl6pPr>
              <a:defRPr sz="2850" b="1">
                <a:solidFill>
                  <a:srgbClr val="10201E"/>
                </a:solidFill>
              </a:defRPr>
            </a:lvl6pPr>
            <a:lvl7pPr>
              <a:defRPr sz="2850" b="1">
                <a:solidFill>
                  <a:srgbClr val="10201E"/>
                </a:solidFill>
              </a:defRPr>
            </a:lvl7pPr>
            <a:lvl8pPr>
              <a:defRPr sz="2850" b="1">
                <a:solidFill>
                  <a:srgbClr val="10201E"/>
                </a:solidFill>
              </a:defRPr>
            </a:lvl8pPr>
            <a:lvl9pPr>
              <a:defRPr sz="2850" b="1">
                <a:solidFill>
                  <a:srgbClr val="10201E"/>
                </a:solidFill>
              </a:defRPr>
            </a:lvl9pPr>
          </a:lstStyle>
          <a:p>
            <a:pPr>
              <a:defRPr sz="2850" b="1">
                <a:solidFill>
                  <a:srgbClr val="10201E"/>
                </a:solidFill>
              </a:defRPr>
            </a:pPr>
            <a:r>
              <a:rPr sz="2850" b="1">
                <a:solidFill>
                  <a:srgbClr val="10201E"/>
                </a:solidFill>
              </a:rPr>
              <a:t>建模对象：构建体、信号肽与成熟蛋白</a:t>
            </a:r>
            <a:endParaRPr sz="2850" b="1">
              <a:solidFill>
                <a:srgbClr val="10201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620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86861"/>
                </a:solidFill>
              </a:defRPr>
            </a:defPPr>
            <a:lvl1pPr>
              <a:defRPr sz="1275" b="0">
                <a:solidFill>
                  <a:srgbClr val="586861"/>
                </a:solidFill>
              </a:defRPr>
            </a:lvl1pPr>
            <a:lvl2pPr>
              <a:defRPr sz="1275" b="0">
                <a:solidFill>
                  <a:srgbClr val="586861"/>
                </a:solidFill>
              </a:defRPr>
            </a:lvl2pPr>
            <a:lvl3pPr>
              <a:defRPr sz="1275" b="0">
                <a:solidFill>
                  <a:srgbClr val="586861"/>
                </a:solidFill>
              </a:defRPr>
            </a:lvl3pPr>
            <a:lvl4pPr>
              <a:defRPr sz="1275" b="0">
                <a:solidFill>
                  <a:srgbClr val="586861"/>
                </a:solidFill>
              </a:defRPr>
            </a:lvl4pPr>
            <a:lvl5pPr>
              <a:defRPr sz="1275" b="0">
                <a:solidFill>
                  <a:srgbClr val="586861"/>
                </a:solidFill>
              </a:defRPr>
            </a:lvl5pPr>
            <a:lvl6pPr>
              <a:defRPr sz="1275" b="0">
                <a:solidFill>
                  <a:srgbClr val="586861"/>
                </a:solidFill>
              </a:defRPr>
            </a:lvl6pPr>
            <a:lvl7pPr>
              <a:defRPr sz="1275" b="0">
                <a:solidFill>
                  <a:srgbClr val="586861"/>
                </a:solidFill>
              </a:defRPr>
            </a:lvl7pPr>
            <a:lvl8pPr>
              <a:defRPr sz="1275" b="0">
                <a:solidFill>
                  <a:srgbClr val="586861"/>
                </a:solidFill>
              </a:defRPr>
            </a:lvl8pPr>
            <a:lvl9pPr>
              <a:defRPr sz="1275" b="0">
                <a:solidFill>
                  <a:srgbClr val="586861"/>
                </a:solidFill>
              </a:defRPr>
            </a:lvl9pPr>
          </a:lstStyle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将融合序列按生物学作用拆开描述</a:t>
            </a:r>
            <a:endParaRPr sz="1275" b="0">
              <a:solidFill>
                <a:srgbClr val="586861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1047750" y="2362200"/>
            <a:ext cx="99060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1047750" y="2362200"/>
            <a:ext cx="2524125" cy="838200"/>
          </a:xfrm>
          <a:prstGeom prst="roundRect">
            <a:avLst>
              <a:gd name="adj" fmla="val 9091"/>
            </a:avLst>
          </a:prstGeom>
          <a:solidFill>
            <a:srgbClr val="FBEAE4"/>
          </a:solidFill>
          <a:ln w="9525">
            <a:solidFill>
              <a:srgbClr val="FBEAE4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3590925" y="2362200"/>
            <a:ext cx="7362825" cy="838200"/>
          </a:xfrm>
          <a:prstGeom prst="roundRect">
            <a:avLst>
              <a:gd name="adj" fmla="val 9091"/>
            </a:avLst>
          </a:prstGeom>
          <a:solidFill>
            <a:srgbClr val="E9F3EC"/>
          </a:solidFill>
          <a:ln w="9525">
            <a:solidFill>
              <a:srgbClr val="E9F3EC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47750" y="2609850"/>
            <a:ext cx="2524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C85D3C"/>
                </a:solidFill>
              </a:defRPr>
            </a:defPPr>
            <a:lvl1pPr>
              <a:defRPr sz="1500" b="1">
                <a:solidFill>
                  <a:srgbClr val="C85D3C"/>
                </a:solidFill>
              </a:defRPr>
            </a:lvl1pPr>
            <a:lvl2pPr>
              <a:defRPr sz="1500" b="1">
                <a:solidFill>
                  <a:srgbClr val="C85D3C"/>
                </a:solidFill>
              </a:defRPr>
            </a:lvl2pPr>
            <a:lvl3pPr>
              <a:defRPr sz="1500" b="1">
                <a:solidFill>
                  <a:srgbClr val="C85D3C"/>
                </a:solidFill>
              </a:defRPr>
            </a:lvl3pPr>
            <a:lvl4pPr>
              <a:defRPr sz="1500" b="1">
                <a:solidFill>
                  <a:srgbClr val="C85D3C"/>
                </a:solidFill>
              </a:defRPr>
            </a:lvl4pPr>
            <a:lvl5pPr>
              <a:defRPr sz="1500" b="1">
                <a:solidFill>
                  <a:srgbClr val="C85D3C"/>
                </a:solidFill>
              </a:defRPr>
            </a:lvl5pPr>
            <a:lvl6pPr>
              <a:defRPr sz="1500" b="1">
                <a:solidFill>
                  <a:srgbClr val="C85D3C"/>
                </a:solidFill>
              </a:defRPr>
            </a:lvl6pPr>
            <a:lvl7pPr>
              <a:defRPr sz="1500" b="1">
                <a:solidFill>
                  <a:srgbClr val="C85D3C"/>
                </a:solidFill>
              </a:defRPr>
            </a:lvl7pPr>
            <a:lvl8pPr>
              <a:defRPr sz="1500" b="1">
                <a:solidFill>
                  <a:srgbClr val="C85D3C"/>
                </a:solidFill>
              </a:defRPr>
            </a:lvl8pPr>
            <a:lvl9pPr>
              <a:defRPr sz="1500" b="1">
                <a:solidFill>
                  <a:srgbClr val="C85D3C"/>
                </a:solidFill>
              </a:defRPr>
            </a:lvl9pPr>
          </a:lstStyle>
          <a:p>
            <a:pPr>
              <a:defRPr sz="1500" b="1">
                <a:solidFill>
                  <a:srgbClr val="C85D3C"/>
                </a:solidFill>
              </a:defRPr>
            </a:pPr>
            <a:r>
              <a:rPr sz="1500" b="1">
                <a:solidFill>
                  <a:srgbClr val="C85D3C"/>
                </a:solidFill>
              </a:rPr>
              <a:t>信号肽</a:t>
            </a:r>
            <a:endParaRPr sz="1500" b="1">
              <a:solidFill>
                <a:srgbClr val="C85D3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590925" y="2609850"/>
            <a:ext cx="7362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D665C"/>
                </a:solidFill>
              </a:defRPr>
            </a:defPPr>
            <a:lvl1pPr>
              <a:defRPr sz="1500" b="1">
                <a:solidFill>
                  <a:srgbClr val="0D665C"/>
                </a:solidFill>
              </a:defRPr>
            </a:lvl1pPr>
            <a:lvl2pPr>
              <a:defRPr sz="1500" b="1">
                <a:solidFill>
                  <a:srgbClr val="0D665C"/>
                </a:solidFill>
              </a:defRPr>
            </a:lvl2pPr>
            <a:lvl3pPr>
              <a:defRPr sz="1500" b="1">
                <a:solidFill>
                  <a:srgbClr val="0D665C"/>
                </a:solidFill>
              </a:defRPr>
            </a:lvl3pPr>
            <a:lvl4pPr>
              <a:defRPr sz="1500" b="1">
                <a:solidFill>
                  <a:srgbClr val="0D665C"/>
                </a:solidFill>
              </a:defRPr>
            </a:lvl4pPr>
            <a:lvl5pPr>
              <a:defRPr sz="1500" b="1">
                <a:solidFill>
                  <a:srgbClr val="0D665C"/>
                </a:solidFill>
              </a:defRPr>
            </a:lvl5pPr>
            <a:lvl6pPr>
              <a:defRPr sz="1500" b="1">
                <a:solidFill>
                  <a:srgbClr val="0D665C"/>
                </a:solidFill>
              </a:defRPr>
            </a:lvl6pPr>
            <a:lvl7pPr>
              <a:defRPr sz="1500" b="1">
                <a:solidFill>
                  <a:srgbClr val="0D665C"/>
                </a:solidFill>
              </a:defRPr>
            </a:lvl7pPr>
            <a:lvl8pPr>
              <a:defRPr sz="1500" b="1">
                <a:solidFill>
                  <a:srgbClr val="0D665C"/>
                </a:solidFill>
              </a:defRPr>
            </a:lvl8pPr>
            <a:lvl9pPr>
              <a:defRPr sz="1500" b="1">
                <a:solidFill>
                  <a:srgbClr val="0D665C"/>
                </a:solidFill>
              </a:defRPr>
            </a:lvl9pPr>
          </a:lstStyle>
          <a:p>
            <a:pPr>
              <a:defRPr sz="1500" b="1">
                <a:solidFill>
                  <a:srgbClr val="0D665C"/>
                </a:solidFill>
              </a:defRPr>
            </a:pPr>
            <a:r>
              <a:rPr sz="1500" b="1">
                <a:solidFill>
                  <a:srgbClr val="0D665C"/>
                </a:solidFill>
              </a:rPr>
              <a:t>成熟蛋白</a:t>
            </a:r>
            <a:endParaRPr sz="1500" b="1">
              <a:solidFill>
                <a:srgbClr val="0D665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3743325"/>
            <a:ext cx="2381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586861"/>
                </a:solidFill>
              </a:defRPr>
            </a:defPPr>
            <a:lvl1pPr>
              <a:defRPr sz="1350" b="0">
                <a:solidFill>
                  <a:srgbClr val="586861"/>
                </a:solidFill>
              </a:defRPr>
            </a:lvl1pPr>
            <a:lvl2pPr>
              <a:defRPr sz="1350" b="0">
                <a:solidFill>
                  <a:srgbClr val="586861"/>
                </a:solidFill>
              </a:defRPr>
            </a:lvl2pPr>
            <a:lvl3pPr>
              <a:defRPr sz="1350" b="0">
                <a:solidFill>
                  <a:srgbClr val="586861"/>
                </a:solidFill>
              </a:defRPr>
            </a:lvl3pPr>
            <a:lvl4pPr>
              <a:defRPr sz="1350" b="0">
                <a:solidFill>
                  <a:srgbClr val="586861"/>
                </a:solidFill>
              </a:defRPr>
            </a:lvl4pPr>
            <a:lvl5pPr>
              <a:defRPr sz="1350" b="0">
                <a:solidFill>
                  <a:srgbClr val="586861"/>
                </a:solidFill>
              </a:defRPr>
            </a:lvl5pPr>
            <a:lvl6pPr>
              <a:defRPr sz="1350" b="0">
                <a:solidFill>
                  <a:srgbClr val="586861"/>
                </a:solidFill>
              </a:defRPr>
            </a:lvl6pPr>
            <a:lvl7pPr>
              <a:defRPr sz="1350" b="0">
                <a:solidFill>
                  <a:srgbClr val="586861"/>
                </a:solidFill>
              </a:defRPr>
            </a:lvl7pPr>
            <a:lvl8pPr>
              <a:defRPr sz="1350" b="0">
                <a:solidFill>
                  <a:srgbClr val="586861"/>
                </a:solidFill>
              </a:defRPr>
            </a:lvl8pPr>
            <a:lvl9pPr>
              <a:defRPr sz="1350" b="0">
                <a:solidFill>
                  <a:srgbClr val="586861"/>
                </a:solidFill>
              </a:defRPr>
            </a:lvl9pPr>
          </a:lstStyle>
          <a:p>
            <a:pPr>
              <a:defRPr sz="1350" b="0">
                <a:solidFill>
                  <a:srgbClr val="586861"/>
                </a:solidFill>
              </a:defRPr>
            </a:pPr>
            <a:r>
              <a:rPr sz="1350" b="0">
                <a:solidFill>
                  <a:srgbClr val="586861"/>
                </a:solidFill>
              </a:rPr>
              <a:t>蛋白前端的运输标签</a:t>
            </a:r>
            <a:endParaRPr sz="1350" b="0">
              <a:solidFill>
                <a:srgbClr val="586861"/>
              </a:solidFill>
            </a:endParaRPr>
          </a:p>
          <a:p>
            <a:pPr>
              <a:defRPr sz="1350" b="0">
                <a:solidFill>
                  <a:srgbClr val="586861"/>
                </a:solidFill>
              </a:defRPr>
            </a:pPr>
            <a:r>
              <a:rPr sz="1350" b="0">
                <a:solidFill>
                  <a:srgbClr val="586861"/>
                </a:solidFill>
              </a:rPr>
              <a:t>引导构建体进入大肠杆菌周质</a:t>
            </a:r>
            <a:endParaRPr sz="1350" b="0">
              <a:solidFill>
                <a:srgbClr val="58686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38875" y="3743325"/>
            <a:ext cx="3429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586861"/>
                </a:solidFill>
              </a:defRPr>
            </a:defPPr>
            <a:lvl1pPr>
              <a:defRPr sz="1350" b="0">
                <a:solidFill>
                  <a:srgbClr val="586861"/>
                </a:solidFill>
              </a:defRPr>
            </a:lvl1pPr>
            <a:lvl2pPr>
              <a:defRPr sz="1350" b="0">
                <a:solidFill>
                  <a:srgbClr val="586861"/>
                </a:solidFill>
              </a:defRPr>
            </a:lvl2pPr>
            <a:lvl3pPr>
              <a:defRPr sz="1350" b="0">
                <a:solidFill>
                  <a:srgbClr val="586861"/>
                </a:solidFill>
              </a:defRPr>
            </a:lvl3pPr>
            <a:lvl4pPr>
              <a:defRPr sz="1350" b="0">
                <a:solidFill>
                  <a:srgbClr val="586861"/>
                </a:solidFill>
              </a:defRPr>
            </a:lvl4pPr>
            <a:lvl5pPr>
              <a:defRPr sz="1350" b="0">
                <a:solidFill>
                  <a:srgbClr val="586861"/>
                </a:solidFill>
              </a:defRPr>
            </a:lvl5pPr>
            <a:lvl6pPr>
              <a:defRPr sz="1350" b="0">
                <a:solidFill>
                  <a:srgbClr val="586861"/>
                </a:solidFill>
              </a:defRPr>
            </a:lvl6pPr>
            <a:lvl7pPr>
              <a:defRPr sz="1350" b="0">
                <a:solidFill>
                  <a:srgbClr val="586861"/>
                </a:solidFill>
              </a:defRPr>
            </a:lvl7pPr>
            <a:lvl8pPr>
              <a:defRPr sz="1350" b="0">
                <a:solidFill>
                  <a:srgbClr val="586861"/>
                </a:solidFill>
              </a:defRPr>
            </a:lvl8pPr>
            <a:lvl9pPr>
              <a:defRPr sz="1350" b="0">
                <a:solidFill>
                  <a:srgbClr val="586861"/>
                </a:solidFill>
              </a:defRPr>
            </a:lvl9pPr>
          </a:lstStyle>
          <a:p>
            <a:pPr>
              <a:defRPr sz="1350" b="0">
                <a:solidFill>
                  <a:srgbClr val="586861"/>
                </a:solidFill>
              </a:defRPr>
            </a:pPr>
            <a:r>
              <a:rPr sz="1350" b="0">
                <a:solidFill>
                  <a:srgbClr val="586861"/>
                </a:solidFill>
              </a:rPr>
              <a:t>最终需要得到的目标蛋白</a:t>
            </a:r>
            <a:endParaRPr sz="1350" b="0">
              <a:solidFill>
                <a:srgbClr val="586861"/>
              </a:solidFill>
            </a:endParaRPr>
          </a:p>
          <a:p>
            <a:pPr>
              <a:defRPr sz="1350" b="0">
                <a:solidFill>
                  <a:srgbClr val="586861"/>
                </a:solidFill>
              </a:defRPr>
            </a:pPr>
            <a:r>
              <a:rPr sz="1350" b="0">
                <a:solidFill>
                  <a:srgbClr val="586861"/>
                </a:solidFill>
              </a:rPr>
              <a:t>其折叠、可溶性和序列组成影响表达表现</a:t>
            </a:r>
            <a:endParaRPr sz="1350" b="0">
              <a:solidFill>
                <a:srgbClr val="586861"/>
              </a:solidFill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305050" y="3257550"/>
            <a:ext cx="0" cy="371475"/>
          </a:xfrm>
          <a:prstGeom prst="line">
            <a:avLst/>
          </a:prstGeom>
          <a:ln w="19050">
            <a:solidFill>
              <a:srgbClr val="C85D3C"/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7219950" y="3257550"/>
            <a:ext cx="0" cy="371475"/>
          </a:xfrm>
          <a:prstGeom prst="line">
            <a:avLst/>
          </a:prstGeom>
          <a:ln w="19050">
            <a:solidFill>
              <a:srgbClr val="0D665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667000" y="5076825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0201E"/>
                </a:solidFill>
              </a:defRPr>
            </a:defPPr>
            <a:lvl1pPr>
              <a:defRPr sz="1725" b="1">
                <a:solidFill>
                  <a:srgbClr val="10201E"/>
                </a:solidFill>
              </a:defRPr>
            </a:lvl1pPr>
            <a:lvl2pPr>
              <a:defRPr sz="1725" b="1">
                <a:solidFill>
                  <a:srgbClr val="10201E"/>
                </a:solidFill>
              </a:defRPr>
            </a:lvl2pPr>
            <a:lvl3pPr>
              <a:defRPr sz="1725" b="1">
                <a:solidFill>
                  <a:srgbClr val="10201E"/>
                </a:solidFill>
              </a:defRPr>
            </a:lvl3pPr>
            <a:lvl4pPr>
              <a:defRPr sz="1725" b="1">
                <a:solidFill>
                  <a:srgbClr val="10201E"/>
                </a:solidFill>
              </a:defRPr>
            </a:lvl4pPr>
            <a:lvl5pPr>
              <a:defRPr sz="1725" b="1">
                <a:solidFill>
                  <a:srgbClr val="10201E"/>
                </a:solidFill>
              </a:defRPr>
            </a:lvl5pPr>
            <a:lvl6pPr>
              <a:defRPr sz="1725" b="1">
                <a:solidFill>
                  <a:srgbClr val="10201E"/>
                </a:solidFill>
              </a:defRPr>
            </a:lvl6pPr>
            <a:lvl7pPr>
              <a:defRPr sz="1725" b="1">
                <a:solidFill>
                  <a:srgbClr val="10201E"/>
                </a:solidFill>
              </a:defRPr>
            </a:lvl7pPr>
            <a:lvl8pPr>
              <a:defRPr sz="1725" b="1">
                <a:solidFill>
                  <a:srgbClr val="10201E"/>
                </a:solidFill>
              </a:defRPr>
            </a:lvl8pPr>
            <a:lvl9pPr>
              <a:defRPr sz="1725" b="1">
                <a:solidFill>
                  <a:srgbClr val="10201E"/>
                </a:solidFill>
              </a:defRPr>
            </a:lvl9pPr>
          </a:lstStyle>
          <a:p>
            <a:pPr>
              <a:defRPr sz="1725" b="1">
                <a:solidFill>
                  <a:srgbClr val="10201E"/>
                </a:solidFill>
              </a:defRPr>
            </a:pPr>
            <a:r>
              <a:rPr sz="1725" b="1">
                <a:solidFill>
                  <a:srgbClr val="10201E"/>
                </a:solidFill>
              </a:rPr>
              <a:t>因此：信号肽特征与成熟蛋白特征分别进入模型</a:t>
            </a:r>
            <a:endParaRPr sz="1725" b="1">
              <a:solidFill>
                <a:srgbClr val="10201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6477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10201E"/>
                </a:solidFill>
              </a:defRPr>
            </a:defPPr>
            <a:lvl1pPr>
              <a:defRPr sz="2850" b="1">
                <a:solidFill>
                  <a:srgbClr val="10201E"/>
                </a:solidFill>
              </a:defRPr>
            </a:lvl1pPr>
            <a:lvl2pPr>
              <a:defRPr sz="2850" b="1">
                <a:solidFill>
                  <a:srgbClr val="10201E"/>
                </a:solidFill>
              </a:defRPr>
            </a:lvl2pPr>
            <a:lvl3pPr>
              <a:defRPr sz="2850" b="1">
                <a:solidFill>
                  <a:srgbClr val="10201E"/>
                </a:solidFill>
              </a:defRPr>
            </a:lvl3pPr>
            <a:lvl4pPr>
              <a:defRPr sz="2850" b="1">
                <a:solidFill>
                  <a:srgbClr val="10201E"/>
                </a:solidFill>
              </a:defRPr>
            </a:lvl4pPr>
            <a:lvl5pPr>
              <a:defRPr sz="2850" b="1">
                <a:solidFill>
                  <a:srgbClr val="10201E"/>
                </a:solidFill>
              </a:defRPr>
            </a:lvl5pPr>
            <a:lvl6pPr>
              <a:defRPr sz="2850" b="1">
                <a:solidFill>
                  <a:srgbClr val="10201E"/>
                </a:solidFill>
              </a:defRPr>
            </a:lvl6pPr>
            <a:lvl7pPr>
              <a:defRPr sz="2850" b="1">
                <a:solidFill>
                  <a:srgbClr val="10201E"/>
                </a:solidFill>
              </a:defRPr>
            </a:lvl7pPr>
            <a:lvl8pPr>
              <a:defRPr sz="2850" b="1">
                <a:solidFill>
                  <a:srgbClr val="10201E"/>
                </a:solidFill>
              </a:defRPr>
            </a:lvl8pPr>
            <a:lvl9pPr>
              <a:defRPr sz="2850" b="1">
                <a:solidFill>
                  <a:srgbClr val="10201E"/>
                </a:solidFill>
              </a:defRPr>
            </a:lvl9pPr>
          </a:lstStyle>
          <a:p>
            <a:pPr>
              <a:defRPr sz="2850" b="1">
                <a:solidFill>
                  <a:srgbClr val="10201E"/>
                </a:solidFill>
              </a:defRPr>
            </a:pPr>
            <a:r>
              <a:rPr sz="2850" b="1">
                <a:solidFill>
                  <a:srgbClr val="10201E"/>
                </a:solidFill>
              </a:rPr>
              <a:t>特征工程</a:t>
            </a:r>
            <a:endParaRPr sz="2850" b="1">
              <a:solidFill>
                <a:srgbClr val="10201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620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86861"/>
                </a:solidFill>
              </a:defRPr>
            </a:defPPr>
            <a:lvl1pPr>
              <a:defRPr sz="1275" b="0">
                <a:solidFill>
                  <a:srgbClr val="586861"/>
                </a:solidFill>
              </a:defRPr>
            </a:lvl1pPr>
            <a:lvl2pPr>
              <a:defRPr sz="1275" b="0">
                <a:solidFill>
                  <a:srgbClr val="586861"/>
                </a:solidFill>
              </a:defRPr>
            </a:lvl2pPr>
            <a:lvl3pPr>
              <a:defRPr sz="1275" b="0">
                <a:solidFill>
                  <a:srgbClr val="586861"/>
                </a:solidFill>
              </a:defRPr>
            </a:lvl3pPr>
            <a:lvl4pPr>
              <a:defRPr sz="1275" b="0">
                <a:solidFill>
                  <a:srgbClr val="586861"/>
                </a:solidFill>
              </a:defRPr>
            </a:lvl4pPr>
            <a:lvl5pPr>
              <a:defRPr sz="1275" b="0">
                <a:solidFill>
                  <a:srgbClr val="586861"/>
                </a:solidFill>
              </a:defRPr>
            </a:lvl5pPr>
            <a:lvl6pPr>
              <a:defRPr sz="1275" b="0">
                <a:solidFill>
                  <a:srgbClr val="586861"/>
                </a:solidFill>
              </a:defRPr>
            </a:lvl6pPr>
            <a:lvl7pPr>
              <a:defRPr sz="1275" b="0">
                <a:solidFill>
                  <a:srgbClr val="586861"/>
                </a:solidFill>
              </a:defRPr>
            </a:lvl7pPr>
            <a:lvl8pPr>
              <a:defRPr sz="1275" b="0">
                <a:solidFill>
                  <a:srgbClr val="586861"/>
                </a:solidFill>
              </a:defRPr>
            </a:lvl8pPr>
            <a:lvl9pPr>
              <a:defRPr sz="1275" b="0">
                <a:solidFill>
                  <a:srgbClr val="586861"/>
                </a:solidFill>
              </a:defRPr>
            </a:lvl9pPr>
          </a:lstStyle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从氨基酸序列生成 1,144 个可训练特征</a:t>
            </a:r>
            <a:endParaRPr sz="1275" b="0">
              <a:solidFill>
                <a:srgbClr val="586861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876300" y="1714500"/>
            <a:ext cx="4619625" cy="2095500"/>
          </a:xfrm>
          <a:prstGeom prst="roundRect">
            <a:avLst>
              <a:gd name="adj" fmla="val 3636"/>
            </a:avLst>
          </a:prstGeom>
          <a:solidFill>
            <a:srgbClr val="E9F3EC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43000" y="19716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0201E"/>
                </a:solidFill>
              </a:defRPr>
            </a:defPPr>
            <a:lvl1pPr>
              <a:defRPr sz="1725" b="1">
                <a:solidFill>
                  <a:srgbClr val="10201E"/>
                </a:solidFill>
              </a:defRPr>
            </a:lvl1pPr>
            <a:lvl2pPr>
              <a:defRPr sz="1725" b="1">
                <a:solidFill>
                  <a:srgbClr val="10201E"/>
                </a:solidFill>
              </a:defRPr>
            </a:lvl2pPr>
            <a:lvl3pPr>
              <a:defRPr sz="1725" b="1">
                <a:solidFill>
                  <a:srgbClr val="10201E"/>
                </a:solidFill>
              </a:defRPr>
            </a:lvl3pPr>
            <a:lvl4pPr>
              <a:defRPr sz="1725" b="1">
                <a:solidFill>
                  <a:srgbClr val="10201E"/>
                </a:solidFill>
              </a:defRPr>
            </a:lvl4pPr>
            <a:lvl5pPr>
              <a:defRPr sz="1725" b="1">
                <a:solidFill>
                  <a:srgbClr val="10201E"/>
                </a:solidFill>
              </a:defRPr>
            </a:lvl5pPr>
            <a:lvl6pPr>
              <a:defRPr sz="1725" b="1">
                <a:solidFill>
                  <a:srgbClr val="10201E"/>
                </a:solidFill>
              </a:defRPr>
            </a:lvl6pPr>
            <a:lvl7pPr>
              <a:defRPr sz="1725" b="1">
                <a:solidFill>
                  <a:srgbClr val="10201E"/>
                </a:solidFill>
              </a:defRPr>
            </a:lvl7pPr>
            <a:lvl8pPr>
              <a:defRPr sz="1725" b="1">
                <a:solidFill>
                  <a:srgbClr val="10201E"/>
                </a:solidFill>
              </a:defRPr>
            </a:lvl8pPr>
            <a:lvl9pPr>
              <a:defRPr sz="1725" b="1">
                <a:solidFill>
                  <a:srgbClr val="10201E"/>
                </a:solidFill>
              </a:defRPr>
            </a:lvl9pPr>
          </a:lstStyle>
          <a:p>
            <a:pPr>
              <a:defRPr sz="1725" b="1">
                <a:solidFill>
                  <a:srgbClr val="10201E"/>
                </a:solidFill>
              </a:defRPr>
            </a:pPr>
            <a:r>
              <a:rPr sz="1725" b="1">
                <a:solidFill>
                  <a:srgbClr val="10201E"/>
                </a:solidFill>
              </a:rPr>
              <a:t>Tier A：序列组成</a:t>
            </a:r>
            <a:endParaRPr sz="1725" b="1">
              <a:solidFill>
                <a:srgbClr val="10201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43000" y="2476500"/>
            <a:ext cx="4095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86861"/>
                </a:solidFill>
              </a:defRPr>
            </a:defPPr>
            <a:lvl1pPr>
              <a:defRPr sz="1275" b="0">
                <a:solidFill>
                  <a:srgbClr val="586861"/>
                </a:solidFill>
              </a:defRPr>
            </a:lvl1pPr>
            <a:lvl2pPr>
              <a:defRPr sz="1275" b="0">
                <a:solidFill>
                  <a:srgbClr val="586861"/>
                </a:solidFill>
              </a:defRPr>
            </a:lvl2pPr>
            <a:lvl3pPr>
              <a:defRPr sz="1275" b="0">
                <a:solidFill>
                  <a:srgbClr val="586861"/>
                </a:solidFill>
              </a:defRPr>
            </a:lvl3pPr>
            <a:lvl4pPr>
              <a:defRPr sz="1275" b="0">
                <a:solidFill>
                  <a:srgbClr val="586861"/>
                </a:solidFill>
              </a:defRPr>
            </a:lvl4pPr>
            <a:lvl5pPr>
              <a:defRPr sz="1275" b="0">
                <a:solidFill>
                  <a:srgbClr val="586861"/>
                </a:solidFill>
              </a:defRPr>
            </a:lvl5pPr>
            <a:lvl6pPr>
              <a:defRPr sz="1275" b="0">
                <a:solidFill>
                  <a:srgbClr val="586861"/>
                </a:solidFill>
              </a:defRPr>
            </a:lvl6pPr>
            <a:lvl7pPr>
              <a:defRPr sz="1275" b="0">
                <a:solidFill>
                  <a:srgbClr val="586861"/>
                </a:solidFill>
              </a:defRPr>
            </a:lvl7pPr>
            <a:lvl8pPr>
              <a:defRPr sz="1275" b="0">
                <a:solidFill>
                  <a:srgbClr val="586861"/>
                </a:solidFill>
              </a:defRPr>
            </a:lvl8pPr>
            <a:lvl9pPr>
              <a:defRPr sz="1275" b="0">
                <a:solidFill>
                  <a:srgbClr val="586861"/>
                </a:solidFill>
              </a:defRPr>
            </a:lvl9pPr>
          </a:lstStyle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20 种氨基酸的计数、频率、连续重复</a:t>
            </a:r>
            <a:endParaRPr sz="1275" b="0">
              <a:solidFill>
                <a:srgbClr val="586861"/>
              </a:solidFill>
            </a:endParaRPr>
          </a:p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400 种二肽的次数与频率</a:t>
            </a:r>
            <a:endParaRPr sz="1275" b="0">
              <a:solidFill>
                <a:srgbClr val="586861"/>
              </a:solidFill>
            </a:endParaRPr>
          </a:p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氨基酸基团频率</a:t>
            </a:r>
            <a:endParaRPr sz="1275" b="0">
              <a:solidFill>
                <a:srgbClr val="586861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33337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0D665C"/>
                </a:solidFill>
              </a:defRPr>
            </a:defPPr>
            <a:lvl1pPr>
              <a:defRPr sz="1125" b="1">
                <a:solidFill>
                  <a:srgbClr val="0D665C"/>
                </a:solidFill>
              </a:defRPr>
            </a:lvl1pPr>
            <a:lvl2pPr>
              <a:defRPr sz="1125" b="1">
                <a:solidFill>
                  <a:srgbClr val="0D665C"/>
                </a:solidFill>
              </a:defRPr>
            </a:lvl2pPr>
            <a:lvl3pPr>
              <a:defRPr sz="1125" b="1">
                <a:solidFill>
                  <a:srgbClr val="0D665C"/>
                </a:solidFill>
              </a:defRPr>
            </a:lvl3pPr>
            <a:lvl4pPr>
              <a:defRPr sz="1125" b="1">
                <a:solidFill>
                  <a:srgbClr val="0D665C"/>
                </a:solidFill>
              </a:defRPr>
            </a:lvl4pPr>
            <a:lvl5pPr>
              <a:defRPr sz="1125" b="1">
                <a:solidFill>
                  <a:srgbClr val="0D665C"/>
                </a:solidFill>
              </a:defRPr>
            </a:lvl5pPr>
            <a:lvl6pPr>
              <a:defRPr sz="1125" b="1">
                <a:solidFill>
                  <a:srgbClr val="0D665C"/>
                </a:solidFill>
              </a:defRPr>
            </a:lvl6pPr>
            <a:lvl7pPr>
              <a:defRPr sz="1125" b="1">
                <a:solidFill>
                  <a:srgbClr val="0D665C"/>
                </a:solidFill>
              </a:defRPr>
            </a:lvl7pPr>
            <a:lvl8pPr>
              <a:defRPr sz="1125" b="1">
                <a:solidFill>
                  <a:srgbClr val="0D665C"/>
                </a:solidFill>
              </a:defRPr>
            </a:lvl8pPr>
            <a:lvl9pPr>
              <a:defRPr sz="1125" b="1">
                <a:solidFill>
                  <a:srgbClr val="0D665C"/>
                </a:solidFill>
              </a:defRPr>
            </a:lvl9pPr>
          </a:lstStyle>
          <a:p>
            <a:pPr>
              <a:defRPr sz="1125" b="1">
                <a:solidFill>
                  <a:srgbClr val="0D665C"/>
                </a:solidFill>
              </a:defRPr>
            </a:pPr>
            <a:r>
              <a:rPr sz="1125" b="1">
                <a:solidFill>
                  <a:srgbClr val="0D665C"/>
                </a:solidFill>
              </a:rPr>
              <a:t>代码：composition.py</a:t>
            </a:r>
            <a:endParaRPr sz="1125" b="1">
              <a:solidFill>
                <a:srgbClr val="0D665C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5924550" y="1714500"/>
            <a:ext cx="4619625" cy="2095500"/>
          </a:xfrm>
          <a:prstGeom prst="roundRect">
            <a:avLst>
              <a:gd name="adj" fmla="val 3636"/>
            </a:avLst>
          </a:prstGeom>
          <a:solidFill>
            <a:srgbClr val="E9F3EC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191250" y="19716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0201E"/>
                </a:solidFill>
              </a:defRPr>
            </a:defPPr>
            <a:lvl1pPr>
              <a:defRPr sz="1725" b="1">
                <a:solidFill>
                  <a:srgbClr val="10201E"/>
                </a:solidFill>
              </a:defRPr>
            </a:lvl1pPr>
            <a:lvl2pPr>
              <a:defRPr sz="1725" b="1">
                <a:solidFill>
                  <a:srgbClr val="10201E"/>
                </a:solidFill>
              </a:defRPr>
            </a:lvl2pPr>
            <a:lvl3pPr>
              <a:defRPr sz="1725" b="1">
                <a:solidFill>
                  <a:srgbClr val="10201E"/>
                </a:solidFill>
              </a:defRPr>
            </a:lvl3pPr>
            <a:lvl4pPr>
              <a:defRPr sz="1725" b="1">
                <a:solidFill>
                  <a:srgbClr val="10201E"/>
                </a:solidFill>
              </a:defRPr>
            </a:lvl4pPr>
            <a:lvl5pPr>
              <a:defRPr sz="1725" b="1">
                <a:solidFill>
                  <a:srgbClr val="10201E"/>
                </a:solidFill>
              </a:defRPr>
            </a:lvl5pPr>
            <a:lvl6pPr>
              <a:defRPr sz="1725" b="1">
                <a:solidFill>
                  <a:srgbClr val="10201E"/>
                </a:solidFill>
              </a:defRPr>
            </a:lvl6pPr>
            <a:lvl7pPr>
              <a:defRPr sz="1725" b="1">
                <a:solidFill>
                  <a:srgbClr val="10201E"/>
                </a:solidFill>
              </a:defRPr>
            </a:lvl7pPr>
            <a:lvl8pPr>
              <a:defRPr sz="1725" b="1">
                <a:solidFill>
                  <a:srgbClr val="10201E"/>
                </a:solidFill>
              </a:defRPr>
            </a:lvl8pPr>
            <a:lvl9pPr>
              <a:defRPr sz="1725" b="1">
                <a:solidFill>
                  <a:srgbClr val="10201E"/>
                </a:solidFill>
              </a:defRPr>
            </a:lvl9pPr>
          </a:lstStyle>
          <a:p>
            <a:pPr>
              <a:defRPr sz="1725" b="1">
                <a:solidFill>
                  <a:srgbClr val="10201E"/>
                </a:solidFill>
              </a:defRPr>
            </a:pPr>
            <a:r>
              <a:rPr sz="1725" b="1">
                <a:solidFill>
                  <a:srgbClr val="10201E"/>
                </a:solidFill>
              </a:rPr>
              <a:t>Tier B：理化属性</a:t>
            </a:r>
            <a:endParaRPr sz="1725" b="1">
              <a:solidFill>
                <a:srgbClr val="10201E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0" y="2476500"/>
            <a:ext cx="4095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86861"/>
                </a:solidFill>
              </a:defRPr>
            </a:defPPr>
            <a:lvl1pPr>
              <a:defRPr sz="1275" b="0">
                <a:solidFill>
                  <a:srgbClr val="586861"/>
                </a:solidFill>
              </a:defRPr>
            </a:lvl1pPr>
            <a:lvl2pPr>
              <a:defRPr sz="1275" b="0">
                <a:solidFill>
                  <a:srgbClr val="586861"/>
                </a:solidFill>
              </a:defRPr>
            </a:lvl2pPr>
            <a:lvl3pPr>
              <a:defRPr sz="1275" b="0">
                <a:solidFill>
                  <a:srgbClr val="586861"/>
                </a:solidFill>
              </a:defRPr>
            </a:lvl3pPr>
            <a:lvl4pPr>
              <a:defRPr sz="1275" b="0">
                <a:solidFill>
                  <a:srgbClr val="586861"/>
                </a:solidFill>
              </a:defRPr>
            </a:lvl4pPr>
            <a:lvl5pPr>
              <a:defRPr sz="1275" b="0">
                <a:solidFill>
                  <a:srgbClr val="586861"/>
                </a:solidFill>
              </a:defRPr>
            </a:lvl5pPr>
            <a:lvl6pPr>
              <a:defRPr sz="1275" b="0">
                <a:solidFill>
                  <a:srgbClr val="586861"/>
                </a:solidFill>
              </a:defRPr>
            </a:lvl6pPr>
            <a:lvl7pPr>
              <a:defRPr sz="1275" b="0">
                <a:solidFill>
                  <a:srgbClr val="586861"/>
                </a:solidFill>
              </a:defRPr>
            </a:lvl7pPr>
            <a:lvl8pPr>
              <a:defRPr sz="1275" b="0">
                <a:solidFill>
                  <a:srgbClr val="586861"/>
                </a:solidFill>
              </a:defRPr>
            </a:lvl8pPr>
            <a:lvl9pPr>
              <a:defRPr sz="1275" b="0">
                <a:solidFill>
                  <a:srgbClr val="586861"/>
                </a:solidFill>
              </a:defRPr>
            </a:lvl9pPr>
          </a:lstStyle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疏水性、分子量、电荷、等电点、稳定性</a:t>
            </a:r>
            <a:endParaRPr sz="1275" b="0">
              <a:solidFill>
                <a:srgbClr val="586861"/>
              </a:solidFill>
            </a:endParaRPr>
          </a:p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信号肽与成熟蛋白分别计算</a:t>
            </a:r>
            <a:endParaRPr sz="1275" b="0">
              <a:solidFill>
                <a:srgbClr val="586861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0" y="33337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0D665C"/>
                </a:solidFill>
              </a:defRPr>
            </a:defPPr>
            <a:lvl1pPr>
              <a:defRPr sz="1125" b="1">
                <a:solidFill>
                  <a:srgbClr val="0D665C"/>
                </a:solidFill>
              </a:defRPr>
            </a:lvl1pPr>
            <a:lvl2pPr>
              <a:defRPr sz="1125" b="1">
                <a:solidFill>
                  <a:srgbClr val="0D665C"/>
                </a:solidFill>
              </a:defRPr>
            </a:lvl2pPr>
            <a:lvl3pPr>
              <a:defRPr sz="1125" b="1">
                <a:solidFill>
                  <a:srgbClr val="0D665C"/>
                </a:solidFill>
              </a:defRPr>
            </a:lvl3pPr>
            <a:lvl4pPr>
              <a:defRPr sz="1125" b="1">
                <a:solidFill>
                  <a:srgbClr val="0D665C"/>
                </a:solidFill>
              </a:defRPr>
            </a:lvl4pPr>
            <a:lvl5pPr>
              <a:defRPr sz="1125" b="1">
                <a:solidFill>
                  <a:srgbClr val="0D665C"/>
                </a:solidFill>
              </a:defRPr>
            </a:lvl5pPr>
            <a:lvl6pPr>
              <a:defRPr sz="1125" b="1">
                <a:solidFill>
                  <a:srgbClr val="0D665C"/>
                </a:solidFill>
              </a:defRPr>
            </a:lvl6pPr>
            <a:lvl7pPr>
              <a:defRPr sz="1125" b="1">
                <a:solidFill>
                  <a:srgbClr val="0D665C"/>
                </a:solidFill>
              </a:defRPr>
            </a:lvl7pPr>
            <a:lvl8pPr>
              <a:defRPr sz="1125" b="1">
                <a:solidFill>
                  <a:srgbClr val="0D665C"/>
                </a:solidFill>
              </a:defRPr>
            </a:lvl8pPr>
            <a:lvl9pPr>
              <a:defRPr sz="1125" b="1">
                <a:solidFill>
                  <a:srgbClr val="0D665C"/>
                </a:solidFill>
              </a:defRPr>
            </a:lvl9pPr>
          </a:lstStyle>
          <a:p>
            <a:pPr>
              <a:defRPr sz="1125" b="1">
                <a:solidFill>
                  <a:srgbClr val="0D665C"/>
                </a:solidFill>
              </a:defRPr>
            </a:pPr>
            <a:r>
              <a:rPr sz="1125" b="1">
                <a:solidFill>
                  <a:srgbClr val="0D665C"/>
                </a:solidFill>
              </a:rPr>
              <a:t>包：Biopython、peptides</a:t>
            </a:r>
            <a:endParaRPr sz="1125" b="1">
              <a:solidFill>
                <a:srgbClr val="0D665C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190750" y="4514850"/>
            <a:ext cx="7810500" cy="666750"/>
          </a:xfrm>
          <a:prstGeom prst="roundRect">
            <a:avLst>
              <a:gd name="adj" fmla="val 11429"/>
            </a:avLst>
          </a:prstGeom>
          <a:solidFill>
            <a:srgbClr val="113D37"/>
          </a:solidFill>
          <a:ln w="9525">
            <a:solidFill>
              <a:srgbClr val="113D37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495550" y="4705350"/>
            <a:ext cx="7200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FFFFFF"/>
                </a:solidFill>
              </a:defRPr>
            </a:defPPr>
            <a:lvl1pPr>
              <a:defRPr sz="1425" b="1">
                <a:solidFill>
                  <a:srgbClr val="FFFFFF"/>
                </a:solidFill>
              </a:defRPr>
            </a:lvl1pPr>
            <a:lvl2pPr>
              <a:defRPr sz="1425" b="1">
                <a:solidFill>
                  <a:srgbClr val="FFFFFF"/>
                </a:solidFill>
              </a:defRPr>
            </a:lvl2pPr>
            <a:lvl3pPr>
              <a:defRPr sz="1425" b="1">
                <a:solidFill>
                  <a:srgbClr val="FFFFFF"/>
                </a:solidFill>
              </a:defRPr>
            </a:lvl3pPr>
            <a:lvl4pPr>
              <a:defRPr sz="1425" b="1">
                <a:solidFill>
                  <a:srgbClr val="FFFFFF"/>
                </a:solidFill>
              </a:defRPr>
            </a:lvl4pPr>
            <a:lvl5pPr>
              <a:defRPr sz="1425" b="1">
                <a:solidFill>
                  <a:srgbClr val="FFFFFF"/>
                </a:solidFill>
              </a:defRPr>
            </a:lvl5pPr>
            <a:lvl6pPr>
              <a:defRPr sz="1425" b="1">
                <a:solidFill>
                  <a:srgbClr val="FFFFFF"/>
                </a:solidFill>
              </a:defRPr>
            </a:lvl6pPr>
            <a:lvl7pPr>
              <a:defRPr sz="1425" b="1">
                <a:solidFill>
                  <a:srgbClr val="FFFFFF"/>
                </a:solidFill>
              </a:defRPr>
            </a:lvl7pPr>
            <a:lvl8pPr>
              <a:defRPr sz="1425" b="1">
                <a:solidFill>
                  <a:srgbClr val="FFFFFF"/>
                </a:solidFill>
              </a:defRPr>
            </a:lvl8pPr>
            <a:lvl9pPr>
              <a:defRPr sz="1425" b="1">
                <a:solidFill>
                  <a:srgbClr val="FFFFFF"/>
                </a:solidFill>
              </a:defRPr>
            </a:lvl9pPr>
          </a:lstStyle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103 条样本对应 1,144 个特征：高维小样本，必须在每个训练折内选择特征</a:t>
            </a:r>
            <a:endParaRPr sz="142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6" name="矩形 75"/>
          <p:cNvSpPr>
            <a:spLocks noGrp="1"/>
          </p:cNvSpPr>
          <p:nvPr/>
        </p:nvSpPr>
        <p:spPr>
          <a:xfrm>
            <a:off x="6477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10201E"/>
                </a:solidFill>
              </a:defRPr>
            </a:defPPr>
            <a:lvl1pPr>
              <a:defRPr sz="2850" b="1">
                <a:solidFill>
                  <a:srgbClr val="10201E"/>
                </a:solidFill>
              </a:defRPr>
            </a:lvl1pPr>
            <a:lvl2pPr>
              <a:defRPr sz="2850" b="1">
                <a:solidFill>
                  <a:srgbClr val="10201E"/>
                </a:solidFill>
              </a:defRPr>
            </a:lvl2pPr>
            <a:lvl3pPr>
              <a:defRPr sz="2850" b="1">
                <a:solidFill>
                  <a:srgbClr val="10201E"/>
                </a:solidFill>
              </a:defRPr>
            </a:lvl3pPr>
            <a:lvl4pPr>
              <a:defRPr sz="2850" b="1">
                <a:solidFill>
                  <a:srgbClr val="10201E"/>
                </a:solidFill>
              </a:defRPr>
            </a:lvl4pPr>
            <a:lvl5pPr>
              <a:defRPr sz="2850" b="1">
                <a:solidFill>
                  <a:srgbClr val="10201E"/>
                </a:solidFill>
              </a:defRPr>
            </a:lvl5pPr>
            <a:lvl6pPr>
              <a:defRPr sz="2850" b="1">
                <a:solidFill>
                  <a:srgbClr val="10201E"/>
                </a:solidFill>
              </a:defRPr>
            </a:lvl6pPr>
            <a:lvl7pPr>
              <a:defRPr sz="2850" b="1">
                <a:solidFill>
                  <a:srgbClr val="10201E"/>
                </a:solidFill>
              </a:defRPr>
            </a:lvl7pPr>
            <a:lvl8pPr>
              <a:defRPr sz="2850" b="1">
                <a:solidFill>
                  <a:srgbClr val="10201E"/>
                </a:solidFill>
              </a:defRPr>
            </a:lvl8pPr>
            <a:lvl9pPr>
              <a:defRPr sz="2850" b="1">
                <a:solidFill>
                  <a:srgbClr val="10201E"/>
                </a:solidFill>
              </a:defRPr>
            </a:lvl9pPr>
          </a:lstStyle>
          <a:p>
            <a:pPr>
              <a:defRPr sz="2850" b="1">
                <a:solidFill>
                  <a:srgbClr val="10201E"/>
                </a:solidFill>
              </a:defRPr>
            </a:pPr>
            <a:r>
              <a:rPr sz="2850" b="1">
                <a:solidFill>
                  <a:srgbClr val="10201E"/>
                </a:solidFill>
              </a:rPr>
              <a:t>模型</a:t>
            </a:r>
            <a:r>
              <a:rPr lang="zh-CN" sz="2850" b="1">
                <a:solidFill>
                  <a:srgbClr val="10201E"/>
                </a:solidFill>
              </a:rPr>
              <a:t>选择与</a:t>
            </a:r>
            <a:r>
              <a:rPr sz="2850" b="1">
                <a:solidFill>
                  <a:srgbClr val="10201E"/>
                </a:solidFill>
              </a:rPr>
              <a:t>结果</a:t>
            </a:r>
            <a:r>
              <a:rPr lang="zh-CN" sz="2850" b="1">
                <a:solidFill>
                  <a:srgbClr val="10201E"/>
                </a:solidFill>
              </a:rPr>
              <a:t>比较</a:t>
            </a:r>
            <a:endParaRPr lang="zh-CN" sz="2850" b="1">
              <a:solidFill>
                <a:srgbClr val="10201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620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86861"/>
                </a:solidFill>
              </a:defRPr>
            </a:defPPr>
            <a:lvl1pPr>
              <a:defRPr sz="1275" b="0">
                <a:solidFill>
                  <a:srgbClr val="586861"/>
                </a:solidFill>
              </a:defRPr>
            </a:lvl1pPr>
            <a:lvl2pPr>
              <a:defRPr sz="1275" b="0">
                <a:solidFill>
                  <a:srgbClr val="586861"/>
                </a:solidFill>
              </a:defRPr>
            </a:lvl2pPr>
            <a:lvl3pPr>
              <a:defRPr sz="1275" b="0">
                <a:solidFill>
                  <a:srgbClr val="586861"/>
                </a:solidFill>
              </a:defRPr>
            </a:lvl3pPr>
            <a:lvl4pPr>
              <a:defRPr sz="1275" b="0">
                <a:solidFill>
                  <a:srgbClr val="586861"/>
                </a:solidFill>
              </a:defRPr>
            </a:lvl4pPr>
            <a:lvl5pPr>
              <a:defRPr sz="1275" b="0">
                <a:solidFill>
                  <a:srgbClr val="586861"/>
                </a:solidFill>
              </a:defRPr>
            </a:lvl5pPr>
            <a:lvl6pPr>
              <a:defRPr sz="1275" b="0">
                <a:solidFill>
                  <a:srgbClr val="586861"/>
                </a:solidFill>
              </a:defRPr>
            </a:lvl6pPr>
            <a:lvl7pPr>
              <a:defRPr sz="1275" b="0">
                <a:solidFill>
                  <a:srgbClr val="586861"/>
                </a:solidFill>
              </a:defRPr>
            </a:lvl7pPr>
            <a:lvl8pPr>
              <a:defRPr sz="1275" b="0">
                <a:solidFill>
                  <a:srgbClr val="586861"/>
                </a:solidFill>
              </a:defRPr>
            </a:lvl8pPr>
            <a:lvl9pPr>
              <a:defRPr sz="1275" b="0">
                <a:solidFill>
                  <a:srgbClr val="586861"/>
                </a:solidFill>
              </a:defRPr>
            </a:lvl9pPr>
          </a:lstStyle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代表性配置均采用“按目标蛋白留出”的严格评估</a:t>
            </a:r>
            <a:endParaRPr sz="1275" b="0">
              <a:solidFill>
                <a:srgbClr val="5868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1447800"/>
            <a:ext cx="1952625" cy="4857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485900"/>
            <a:ext cx="18002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模型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486025" y="1447800"/>
            <a:ext cx="762000" cy="4857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562225" y="1485900"/>
            <a:ext cx="6096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k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248025" y="1447800"/>
            <a:ext cx="1143000" cy="4857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324225" y="1485900"/>
            <a:ext cx="9906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r(log)</a:t>
            </a:r>
            <a:r>
              <a:rPr lang="en-US" sz="1125" b="1">
                <a:solidFill>
                  <a:srgbClr val="FFFFFF"/>
                </a:solidFill>
              </a:rPr>
              <a:t> </a:t>
            </a:r>
            <a:endParaRPr lang="en-US" sz="1125" b="1">
              <a:solidFill>
                <a:srgbClr val="FFFFFF"/>
              </a:solidFill>
            </a:endParaRPr>
          </a:p>
          <a:p>
            <a:pPr>
              <a:defRPr sz="1125" b="1">
                <a:solidFill>
                  <a:srgbClr val="FFFFFF"/>
                </a:solidFill>
              </a:defRPr>
            </a:pPr>
            <a:r>
              <a:rPr lang="en-US" sz="1125" b="1">
                <a:solidFill>
                  <a:srgbClr val="FFFFFF"/>
                </a:solidFill>
              </a:rPr>
              <a:t>线性相关性</a:t>
            </a:r>
            <a:endParaRPr lang="en-US" sz="1125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391025" y="1447800"/>
            <a:ext cx="1476375" cy="4857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467225" y="1485900"/>
            <a:ext cx="13239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典型误差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867400" y="1447800"/>
            <a:ext cx="1857375" cy="4857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943600" y="1485900"/>
            <a:ext cx="17049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Top10 高产比例</a:t>
            </a:r>
            <a:endParaRPr sz="1125" b="1">
              <a:solidFill>
                <a:srgbClr val="FFFFFF"/>
              </a:solidFill>
            </a:endParaRPr>
          </a:p>
          <a:p>
            <a:pPr>
              <a:defRPr sz="1125" b="1">
                <a:solidFill>
                  <a:srgbClr val="FFFFFF"/>
                </a:solidFill>
              </a:defRPr>
            </a:pPr>
            <a:r>
              <a:rPr lang="en-US" sz="1125" b="1">
                <a:solidFill>
                  <a:srgbClr val="FFFFFF"/>
                </a:solidFill>
              </a:rPr>
              <a:t>(</a:t>
            </a:r>
            <a:r>
              <a:rPr sz="1125" b="1">
                <a:solidFill>
                  <a:srgbClr val="FFFFFF"/>
                </a:solidFill>
              </a:rPr>
              <a:t>≥ 50 mg/L</a:t>
            </a:r>
            <a:r>
              <a:rPr lang="en-US" sz="1125" b="1">
                <a:solidFill>
                  <a:srgbClr val="FFFFFF"/>
                </a:solidFill>
              </a:rPr>
              <a:t>)</a:t>
            </a:r>
            <a:endParaRPr lang="en-US" sz="1125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724775" y="1447800"/>
            <a:ext cx="3476625" cy="485775"/>
          </a:xfrm>
          <a:prstGeom prst="rect">
            <a:avLst/>
          </a:prstGeom>
          <a:solidFill>
            <a:srgbClr val="113D3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800975" y="1485900"/>
            <a:ext cx="33242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观察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3400" y="1933575"/>
            <a:ext cx="195262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1971675"/>
            <a:ext cx="18002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Constant baseline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486025" y="1933575"/>
            <a:ext cx="76200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562225" y="1971675"/>
            <a:ext cx="6096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—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248025" y="1933575"/>
            <a:ext cx="114300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324225" y="1971675"/>
            <a:ext cx="9906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约 0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391025" y="1933575"/>
            <a:ext cx="147637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467225" y="1971675"/>
            <a:ext cx="13239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4.4×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867400" y="1933575"/>
            <a:ext cx="185737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943600" y="1971675"/>
            <a:ext cx="17049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0.14–0.29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724775" y="1933575"/>
            <a:ext cx="347662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800975" y="1971675"/>
            <a:ext cx="33242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最低基线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33400" y="2419350"/>
            <a:ext cx="1952625" cy="4857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09600" y="2457450"/>
            <a:ext cx="18002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Ridge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486025" y="2419350"/>
            <a:ext cx="762000" cy="4857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562225" y="2457450"/>
            <a:ext cx="6096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5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248025" y="2419350"/>
            <a:ext cx="1143000" cy="4857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3324225" y="2457450"/>
            <a:ext cx="9906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0.257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391025" y="2419350"/>
            <a:ext cx="1476375" cy="4857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467225" y="2457450"/>
            <a:ext cx="13239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3.86×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867400" y="2419350"/>
            <a:ext cx="1857375" cy="4857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943600" y="2457450"/>
            <a:ext cx="17049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0.60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724775" y="2419350"/>
            <a:ext cx="3476625" cy="4857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7800975" y="2457450"/>
            <a:ext cx="33242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单次相关性最高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33400" y="2905125"/>
            <a:ext cx="195262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09600" y="2943225"/>
            <a:ext cx="18002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Ridge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486025" y="2905125"/>
            <a:ext cx="76200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2562225" y="2943225"/>
            <a:ext cx="6096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20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3248025" y="2905125"/>
            <a:ext cx="114300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3324225" y="2943225"/>
            <a:ext cx="9906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0.138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391025" y="2905125"/>
            <a:ext cx="147637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4467225" y="2943225"/>
            <a:ext cx="13239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4.00×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5867400" y="2905125"/>
            <a:ext cx="185737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5943600" y="2943225"/>
            <a:ext cx="17049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0.70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724775" y="2905125"/>
            <a:ext cx="347662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800975" y="2943225"/>
            <a:ext cx="33242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更多特征没有稳定增益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33400" y="3390900"/>
            <a:ext cx="1952625" cy="4857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09600" y="3429000"/>
            <a:ext cx="18002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Random Forest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2486025" y="3390900"/>
            <a:ext cx="762000" cy="4857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2562225" y="3429000"/>
            <a:ext cx="6096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5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3248025" y="3390900"/>
            <a:ext cx="1143000" cy="4857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3324225" y="3429000"/>
            <a:ext cx="9906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0.208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4391025" y="3390900"/>
            <a:ext cx="1476375" cy="4857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4467225" y="3429000"/>
            <a:ext cx="13239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4.12×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5867400" y="3390900"/>
            <a:ext cx="1857375" cy="4857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5943600" y="3429000"/>
            <a:ext cx="17049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0.40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7724775" y="3390900"/>
            <a:ext cx="3476625" cy="485775"/>
          </a:xfrm>
          <a:prstGeom prst="rect">
            <a:avLst/>
          </a:prstGeom>
          <a:solidFill>
            <a:srgbClr val="F8FAF7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7800975" y="3429000"/>
            <a:ext cx="33242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0">
                <a:solidFill>
                  <a:srgbClr val="10201E"/>
                </a:solidFill>
              </a:rPr>
              <a:t>复杂非线性模型未胜出</a:t>
            </a:r>
            <a:endParaRPr sz="1050" b="0">
              <a:solidFill>
                <a:srgbClr val="10201E"/>
              </a:solidFill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533400" y="3876675"/>
            <a:ext cx="195262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609600" y="3914775"/>
            <a:ext cx="18002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1">
                <a:solidFill>
                  <a:srgbClr val="10201E"/>
                </a:solidFill>
              </a:rPr>
              <a:t>Bagged Ridge</a:t>
            </a:r>
            <a:endParaRPr sz="1050" b="1">
              <a:solidFill>
                <a:srgbClr val="10201E"/>
              </a:solidFill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2486025" y="3876675"/>
            <a:ext cx="76200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2562225" y="3914775"/>
            <a:ext cx="75501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1">
                <a:solidFill>
                  <a:srgbClr val="10201E"/>
                </a:solidFill>
              </a:rPr>
              <a:t>5 × 20</a:t>
            </a:r>
            <a:endParaRPr sz="1050" b="1">
              <a:solidFill>
                <a:srgbClr val="10201E"/>
              </a:solidFill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3248025" y="3876675"/>
            <a:ext cx="1143000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3324225" y="3914775"/>
            <a:ext cx="9906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1">
                <a:solidFill>
                  <a:srgbClr val="10201E"/>
                </a:solidFill>
              </a:rPr>
              <a:t>0.156</a:t>
            </a:r>
            <a:endParaRPr sz="1050" b="1">
              <a:solidFill>
                <a:srgbClr val="10201E"/>
              </a:solidFill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4391025" y="3876675"/>
            <a:ext cx="147637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4467225" y="3914775"/>
            <a:ext cx="13239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1">
                <a:solidFill>
                  <a:srgbClr val="10201E"/>
                </a:solidFill>
              </a:rPr>
              <a:t>4.01×</a:t>
            </a:r>
            <a:endParaRPr sz="1050" b="1">
              <a:solidFill>
                <a:srgbClr val="10201E"/>
              </a:solidFill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5867400" y="3876675"/>
            <a:ext cx="185737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5943600" y="3914775"/>
            <a:ext cx="17049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1">
                <a:solidFill>
                  <a:srgbClr val="10201E"/>
                </a:solidFill>
              </a:rPr>
              <a:t>0.60</a:t>
            </a:r>
            <a:endParaRPr sz="1050" b="1">
              <a:solidFill>
                <a:srgbClr val="10201E"/>
              </a:solidFill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7724775" y="3876675"/>
            <a:ext cx="3476625" cy="485775"/>
          </a:xfrm>
          <a:prstGeom prst="rect">
            <a:avLst/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7800975" y="3914775"/>
            <a:ext cx="332422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 b="0">
                <a:solidFill>
                  <a:srgbClr val="10201E"/>
                </a:solidFill>
              </a:defRPr>
            </a:defPPr>
            <a:lvl1pPr>
              <a:defRPr sz="1050" b="0">
                <a:solidFill>
                  <a:srgbClr val="10201E"/>
                </a:solidFill>
              </a:defRPr>
            </a:lvl1pPr>
            <a:lvl2pPr>
              <a:defRPr sz="1050" b="0">
                <a:solidFill>
                  <a:srgbClr val="10201E"/>
                </a:solidFill>
              </a:defRPr>
            </a:lvl2pPr>
            <a:lvl3pPr>
              <a:defRPr sz="1050" b="0">
                <a:solidFill>
                  <a:srgbClr val="10201E"/>
                </a:solidFill>
              </a:defRPr>
            </a:lvl3pPr>
            <a:lvl4pPr>
              <a:defRPr sz="1050" b="0">
                <a:solidFill>
                  <a:srgbClr val="10201E"/>
                </a:solidFill>
              </a:defRPr>
            </a:lvl4pPr>
            <a:lvl5pPr>
              <a:defRPr sz="1050" b="0">
                <a:solidFill>
                  <a:srgbClr val="10201E"/>
                </a:solidFill>
              </a:defRPr>
            </a:lvl5pPr>
            <a:lvl6pPr>
              <a:defRPr sz="1050" b="0">
                <a:solidFill>
                  <a:srgbClr val="10201E"/>
                </a:solidFill>
              </a:defRPr>
            </a:lvl6pPr>
            <a:lvl7pPr>
              <a:defRPr sz="1050" b="0">
                <a:solidFill>
                  <a:srgbClr val="10201E"/>
                </a:solidFill>
              </a:defRPr>
            </a:lvl7pPr>
            <a:lvl8pPr>
              <a:defRPr sz="1050" b="0">
                <a:solidFill>
                  <a:srgbClr val="10201E"/>
                </a:solidFill>
              </a:defRPr>
            </a:lvl8pPr>
            <a:lvl9pPr>
              <a:defRPr sz="1050" b="0">
                <a:solidFill>
                  <a:srgbClr val="10201E"/>
                </a:solidFill>
              </a:defRPr>
            </a:lvl9pPr>
          </a:lstStyle>
          <a:p>
            <a:pPr>
              <a:defRPr sz="1050" b="0">
                <a:solidFill>
                  <a:srgbClr val="10201E"/>
                </a:solidFill>
              </a:defRPr>
            </a:pPr>
            <a:r>
              <a:rPr sz="1050" b="1">
                <a:solidFill>
                  <a:srgbClr val="10201E"/>
                </a:solidFill>
                <a:latin typeface="Arial Bold" panose="020B0604020202020204" charset="0"/>
              </a:rPr>
              <a:t>最终交付版本</a:t>
            </a:r>
            <a:endParaRPr sz="1050" b="1">
              <a:solidFill>
                <a:srgbClr val="10201E"/>
              </a:solidFill>
              <a:latin typeface="Arial Bold" panose="020B0604020202020204" charset="0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1009650" y="5086350"/>
            <a:ext cx="1019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0201E"/>
                </a:solidFill>
              </a:defRPr>
            </a:defPPr>
            <a:lvl1pPr>
              <a:defRPr sz="1425" b="1">
                <a:solidFill>
                  <a:srgbClr val="10201E"/>
                </a:solidFill>
              </a:defRPr>
            </a:lvl1pPr>
            <a:lvl2pPr>
              <a:defRPr sz="1425" b="1">
                <a:solidFill>
                  <a:srgbClr val="10201E"/>
                </a:solidFill>
              </a:defRPr>
            </a:lvl2pPr>
            <a:lvl3pPr>
              <a:defRPr sz="1425" b="1">
                <a:solidFill>
                  <a:srgbClr val="10201E"/>
                </a:solidFill>
              </a:defRPr>
            </a:lvl3pPr>
            <a:lvl4pPr>
              <a:defRPr sz="1425" b="1">
                <a:solidFill>
                  <a:srgbClr val="10201E"/>
                </a:solidFill>
              </a:defRPr>
            </a:lvl4pPr>
            <a:lvl5pPr>
              <a:defRPr sz="1425" b="1">
                <a:solidFill>
                  <a:srgbClr val="10201E"/>
                </a:solidFill>
              </a:defRPr>
            </a:lvl5pPr>
            <a:lvl6pPr>
              <a:defRPr sz="1425" b="1">
                <a:solidFill>
                  <a:srgbClr val="10201E"/>
                </a:solidFill>
              </a:defRPr>
            </a:lvl6pPr>
            <a:lvl7pPr>
              <a:defRPr sz="1425" b="1">
                <a:solidFill>
                  <a:srgbClr val="10201E"/>
                </a:solidFill>
              </a:defRPr>
            </a:lvl7pPr>
            <a:lvl8pPr>
              <a:defRPr sz="1425" b="1">
                <a:solidFill>
                  <a:srgbClr val="10201E"/>
                </a:solidFill>
              </a:defRPr>
            </a:lvl8pPr>
            <a:lvl9pPr>
              <a:defRPr sz="1425" b="1">
                <a:solidFill>
                  <a:srgbClr val="10201E"/>
                </a:solidFill>
              </a:defRPr>
            </a:lvl9pPr>
          </a:lstStyle>
          <a:p>
            <a:pPr>
              <a:defRPr sz="1425" b="1">
                <a:solidFill>
                  <a:srgbClr val="10201E"/>
                </a:solidFill>
              </a:defRPr>
            </a:pPr>
            <a:r>
              <a:rPr sz="1425" b="1">
                <a:solidFill>
                  <a:srgbClr val="10201E"/>
                </a:solidFill>
              </a:rPr>
              <a:t>“最好”不能只看单个相关系数，还要看特征选择是否稳定、预测是否能区分候选，以及是否能报告不确定性。</a:t>
            </a:r>
            <a:endParaRPr sz="1425" b="1">
              <a:solidFill>
                <a:srgbClr val="10201E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477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10201E"/>
                </a:solidFill>
              </a:defRPr>
            </a:defPPr>
            <a:lvl1pPr>
              <a:defRPr sz="2850" b="1">
                <a:solidFill>
                  <a:srgbClr val="10201E"/>
                </a:solidFill>
              </a:defRPr>
            </a:lvl1pPr>
            <a:lvl2pPr>
              <a:defRPr sz="2850" b="1">
                <a:solidFill>
                  <a:srgbClr val="10201E"/>
                </a:solidFill>
              </a:defRPr>
            </a:lvl2pPr>
            <a:lvl3pPr>
              <a:defRPr sz="2850" b="1">
                <a:solidFill>
                  <a:srgbClr val="10201E"/>
                </a:solidFill>
              </a:defRPr>
            </a:lvl3pPr>
            <a:lvl4pPr>
              <a:defRPr sz="2850" b="1">
                <a:solidFill>
                  <a:srgbClr val="10201E"/>
                </a:solidFill>
              </a:defRPr>
            </a:lvl4pPr>
            <a:lvl5pPr>
              <a:defRPr sz="2850" b="1">
                <a:solidFill>
                  <a:srgbClr val="10201E"/>
                </a:solidFill>
              </a:defRPr>
            </a:lvl5pPr>
            <a:lvl6pPr>
              <a:defRPr sz="2850" b="1">
                <a:solidFill>
                  <a:srgbClr val="10201E"/>
                </a:solidFill>
              </a:defRPr>
            </a:lvl6pPr>
            <a:lvl7pPr>
              <a:defRPr sz="2850" b="1">
                <a:solidFill>
                  <a:srgbClr val="10201E"/>
                </a:solidFill>
              </a:defRPr>
            </a:lvl7pPr>
            <a:lvl8pPr>
              <a:defRPr sz="2850" b="1">
                <a:solidFill>
                  <a:srgbClr val="10201E"/>
                </a:solidFill>
              </a:defRPr>
            </a:lvl8pPr>
            <a:lvl9pPr>
              <a:defRPr sz="2850" b="1">
                <a:solidFill>
                  <a:srgbClr val="10201E"/>
                </a:solidFill>
              </a:defRPr>
            </a:lvl9pPr>
          </a:lstStyle>
          <a:p>
            <a:pPr>
              <a:defRPr sz="2850" b="1">
                <a:solidFill>
                  <a:srgbClr val="10201E"/>
                </a:solidFill>
              </a:defRPr>
            </a:pPr>
            <a:r>
              <a:rPr sz="2850" b="1">
                <a:solidFill>
                  <a:srgbClr val="10201E"/>
                </a:solidFill>
              </a:rPr>
              <a:t>最终模型选择：Bagged Ridge</a:t>
            </a:r>
            <a:endParaRPr sz="2850" b="1">
              <a:solidFill>
                <a:srgbClr val="10201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620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86861"/>
                </a:solidFill>
              </a:defRPr>
            </a:defPPr>
            <a:lvl1pPr>
              <a:defRPr sz="1275" b="0">
                <a:solidFill>
                  <a:srgbClr val="586861"/>
                </a:solidFill>
              </a:defRPr>
            </a:lvl1pPr>
            <a:lvl2pPr>
              <a:defRPr sz="1275" b="0">
                <a:solidFill>
                  <a:srgbClr val="586861"/>
                </a:solidFill>
              </a:defRPr>
            </a:lvl2pPr>
            <a:lvl3pPr>
              <a:defRPr sz="1275" b="0">
                <a:solidFill>
                  <a:srgbClr val="586861"/>
                </a:solidFill>
              </a:defRPr>
            </a:lvl3pPr>
            <a:lvl4pPr>
              <a:defRPr sz="1275" b="0">
                <a:solidFill>
                  <a:srgbClr val="586861"/>
                </a:solidFill>
              </a:defRPr>
            </a:lvl4pPr>
            <a:lvl5pPr>
              <a:defRPr sz="1275" b="0">
                <a:solidFill>
                  <a:srgbClr val="586861"/>
                </a:solidFill>
              </a:defRPr>
            </a:lvl5pPr>
            <a:lvl6pPr>
              <a:defRPr sz="1275" b="0">
                <a:solidFill>
                  <a:srgbClr val="586861"/>
                </a:solidFill>
              </a:defRPr>
            </a:lvl6pPr>
            <a:lvl7pPr>
              <a:defRPr sz="1275" b="0">
                <a:solidFill>
                  <a:srgbClr val="586861"/>
                </a:solidFill>
              </a:defRPr>
            </a:lvl7pPr>
            <a:lvl8pPr>
              <a:defRPr sz="1275" b="0">
                <a:solidFill>
                  <a:srgbClr val="586861"/>
                </a:solidFill>
              </a:defRPr>
            </a:lvl8pPr>
            <a:lvl9pPr>
              <a:defRPr sz="1275" b="0">
                <a:solidFill>
                  <a:srgbClr val="586861"/>
                </a:solidFill>
              </a:defRPr>
            </a:lvl9pPr>
          </a:lstStyle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单次 Ridge 的分数更高，但对一次偶然的特征选择过于敏感</a:t>
            </a:r>
            <a:endParaRPr sz="1275" b="0">
              <a:solidFill>
                <a:srgbClr val="5868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00125" y="1619250"/>
            <a:ext cx="40481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C85D3C"/>
                </a:solidFill>
              </a:defRPr>
            </a:defPPr>
            <a:lvl1pPr>
              <a:defRPr sz="1725" b="1">
                <a:solidFill>
                  <a:srgbClr val="C85D3C"/>
                </a:solidFill>
              </a:defRPr>
            </a:lvl1pPr>
            <a:lvl2pPr>
              <a:defRPr sz="1725" b="1">
                <a:solidFill>
                  <a:srgbClr val="C85D3C"/>
                </a:solidFill>
              </a:defRPr>
            </a:lvl2pPr>
            <a:lvl3pPr>
              <a:defRPr sz="1725" b="1">
                <a:solidFill>
                  <a:srgbClr val="C85D3C"/>
                </a:solidFill>
              </a:defRPr>
            </a:lvl3pPr>
            <a:lvl4pPr>
              <a:defRPr sz="1725" b="1">
                <a:solidFill>
                  <a:srgbClr val="C85D3C"/>
                </a:solidFill>
              </a:defRPr>
            </a:lvl4pPr>
            <a:lvl5pPr>
              <a:defRPr sz="1725" b="1">
                <a:solidFill>
                  <a:srgbClr val="C85D3C"/>
                </a:solidFill>
              </a:defRPr>
            </a:lvl5pPr>
            <a:lvl6pPr>
              <a:defRPr sz="1725" b="1">
                <a:solidFill>
                  <a:srgbClr val="C85D3C"/>
                </a:solidFill>
              </a:defRPr>
            </a:lvl6pPr>
            <a:lvl7pPr>
              <a:defRPr sz="1725" b="1">
                <a:solidFill>
                  <a:srgbClr val="C85D3C"/>
                </a:solidFill>
              </a:defRPr>
            </a:lvl7pPr>
            <a:lvl8pPr>
              <a:defRPr sz="1725" b="1">
                <a:solidFill>
                  <a:srgbClr val="C85D3C"/>
                </a:solidFill>
              </a:defRPr>
            </a:lvl8pPr>
            <a:lvl9pPr>
              <a:defRPr sz="1725" b="1">
                <a:solidFill>
                  <a:srgbClr val="C85D3C"/>
                </a:solidFill>
              </a:defRPr>
            </a:lvl9pPr>
          </a:lstStyle>
          <a:p>
            <a:pPr>
              <a:defRPr sz="1725" b="1">
                <a:solidFill>
                  <a:srgbClr val="C85D3C"/>
                </a:solidFill>
              </a:defRPr>
            </a:pPr>
            <a:r>
              <a:rPr sz="1725" b="1">
                <a:solidFill>
                  <a:srgbClr val="C85D3C"/>
                </a:solidFill>
              </a:rPr>
              <a:t>单次 Ridge，k = 5</a:t>
            </a:r>
            <a:endParaRPr sz="1725" b="1">
              <a:solidFill>
                <a:srgbClr val="C85D3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00125" y="2095500"/>
            <a:ext cx="44767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10201E"/>
                </a:solidFill>
              </a:defRPr>
            </a:defPPr>
            <a:lvl1pPr>
              <a:defRPr sz="1350" b="0">
                <a:solidFill>
                  <a:srgbClr val="10201E"/>
                </a:solidFill>
              </a:defRPr>
            </a:lvl1pPr>
            <a:lvl2pPr>
              <a:defRPr sz="1350" b="0">
                <a:solidFill>
                  <a:srgbClr val="10201E"/>
                </a:solidFill>
              </a:defRPr>
            </a:lvl2pPr>
            <a:lvl3pPr>
              <a:defRPr sz="1350" b="0">
                <a:solidFill>
                  <a:srgbClr val="10201E"/>
                </a:solidFill>
              </a:defRPr>
            </a:lvl3pPr>
            <a:lvl4pPr>
              <a:defRPr sz="1350" b="0">
                <a:solidFill>
                  <a:srgbClr val="10201E"/>
                </a:solidFill>
              </a:defRPr>
            </a:lvl4pPr>
            <a:lvl5pPr>
              <a:defRPr sz="1350" b="0">
                <a:solidFill>
                  <a:srgbClr val="10201E"/>
                </a:solidFill>
              </a:defRPr>
            </a:lvl5pPr>
            <a:lvl6pPr>
              <a:defRPr sz="1350" b="0">
                <a:solidFill>
                  <a:srgbClr val="10201E"/>
                </a:solidFill>
              </a:defRPr>
            </a:lvl6pPr>
            <a:lvl7pPr>
              <a:defRPr sz="1350" b="0">
                <a:solidFill>
                  <a:srgbClr val="10201E"/>
                </a:solidFill>
              </a:defRPr>
            </a:lvl7pPr>
            <a:lvl8pPr>
              <a:defRPr sz="1350" b="0">
                <a:solidFill>
                  <a:srgbClr val="10201E"/>
                </a:solidFill>
              </a:defRPr>
            </a:lvl8pPr>
            <a:lvl9pPr>
              <a:defRPr sz="1350" b="0">
                <a:solidFill>
                  <a:srgbClr val="10201E"/>
                </a:solidFill>
              </a:defRPr>
            </a:lvl9pPr>
          </a:lstStyle>
          <a:p>
            <a:pPr>
              <a:defRPr sz="1350" b="0">
                <a:solidFill>
                  <a:srgbClr val="10201E"/>
                </a:solidFill>
              </a:defRPr>
            </a:pPr>
            <a:r>
              <a:rPr sz="1350" b="0">
                <a:solidFill>
                  <a:srgbClr val="10201E"/>
                </a:solidFill>
              </a:rPr>
              <a:t>• 全表拟合时，5 个特征主要落在 PM、RE、YH 等稀有二肽</a:t>
            </a:r>
            <a:endParaRPr sz="1350" b="0">
              <a:solidFill>
                <a:srgbClr val="10201E"/>
              </a:solidFill>
            </a:endParaRPr>
          </a:p>
          <a:p>
            <a:pPr>
              <a:defRPr sz="1350" b="0">
                <a:solidFill>
                  <a:srgbClr val="10201E"/>
                </a:solidFill>
              </a:defRPr>
            </a:pPr>
            <a:r>
              <a:rPr sz="1350" b="0">
                <a:solidFill>
                  <a:srgbClr val="10201E"/>
                </a:solidFill>
              </a:rPr>
              <a:t>• 62 / 103 个构建体不含这些二肽，因此得到同一个预测</a:t>
            </a:r>
            <a:endParaRPr sz="1350" b="0">
              <a:solidFill>
                <a:srgbClr val="10201E"/>
              </a:solidFill>
            </a:endParaRPr>
          </a:p>
          <a:p>
            <a:pPr>
              <a:defRPr sz="1350" b="0">
                <a:solidFill>
                  <a:srgbClr val="10201E"/>
                </a:solidFill>
              </a:defRPr>
            </a:pPr>
            <a:r>
              <a:rPr sz="1350" b="0">
                <a:solidFill>
                  <a:srgbClr val="10201E"/>
                </a:solidFill>
              </a:rPr>
              <a:t>• r(log) = 0.257，但无法形成细粒度的候选排序</a:t>
            </a:r>
            <a:endParaRPr sz="1350" b="0">
              <a:solidFill>
                <a:srgbClr val="10201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619875" y="1619250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D665C"/>
                </a:solidFill>
              </a:defRPr>
            </a:defPPr>
            <a:lvl1pPr>
              <a:defRPr sz="1725" b="1">
                <a:solidFill>
                  <a:srgbClr val="0D665C"/>
                </a:solidFill>
              </a:defRPr>
            </a:lvl1pPr>
            <a:lvl2pPr>
              <a:defRPr sz="1725" b="1">
                <a:solidFill>
                  <a:srgbClr val="0D665C"/>
                </a:solidFill>
              </a:defRPr>
            </a:lvl2pPr>
            <a:lvl3pPr>
              <a:defRPr sz="1725" b="1">
                <a:solidFill>
                  <a:srgbClr val="0D665C"/>
                </a:solidFill>
              </a:defRPr>
            </a:lvl3pPr>
            <a:lvl4pPr>
              <a:defRPr sz="1725" b="1">
                <a:solidFill>
                  <a:srgbClr val="0D665C"/>
                </a:solidFill>
              </a:defRPr>
            </a:lvl4pPr>
            <a:lvl5pPr>
              <a:defRPr sz="1725" b="1">
                <a:solidFill>
                  <a:srgbClr val="0D665C"/>
                </a:solidFill>
              </a:defRPr>
            </a:lvl5pPr>
            <a:lvl6pPr>
              <a:defRPr sz="1725" b="1">
                <a:solidFill>
                  <a:srgbClr val="0D665C"/>
                </a:solidFill>
              </a:defRPr>
            </a:lvl6pPr>
            <a:lvl7pPr>
              <a:defRPr sz="1725" b="1">
                <a:solidFill>
                  <a:srgbClr val="0D665C"/>
                </a:solidFill>
              </a:defRPr>
            </a:lvl7pPr>
            <a:lvl8pPr>
              <a:defRPr sz="1725" b="1">
                <a:solidFill>
                  <a:srgbClr val="0D665C"/>
                </a:solidFill>
              </a:defRPr>
            </a:lvl8pPr>
            <a:lvl9pPr>
              <a:defRPr sz="1725" b="1">
                <a:solidFill>
                  <a:srgbClr val="0D665C"/>
                </a:solidFill>
              </a:defRPr>
            </a:lvl9pPr>
          </a:lstStyle>
          <a:p>
            <a:pPr>
              <a:defRPr sz="1725" b="1">
                <a:solidFill>
                  <a:srgbClr val="0D665C"/>
                </a:solidFill>
              </a:defRPr>
            </a:pPr>
            <a:r>
              <a:rPr sz="1725" b="1">
                <a:solidFill>
                  <a:srgbClr val="0D665C"/>
                </a:solidFill>
              </a:rPr>
              <a:t>Bagged Ridge，20 次重采样</a:t>
            </a:r>
            <a:endParaRPr sz="1725" b="1">
              <a:solidFill>
                <a:srgbClr val="0D665C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19875" y="2095500"/>
            <a:ext cx="4524375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10201E"/>
                </a:solidFill>
              </a:defRPr>
            </a:defPPr>
            <a:lvl1pPr>
              <a:defRPr sz="1350" b="0">
                <a:solidFill>
                  <a:srgbClr val="10201E"/>
                </a:solidFill>
              </a:defRPr>
            </a:lvl1pPr>
            <a:lvl2pPr>
              <a:defRPr sz="1350" b="0">
                <a:solidFill>
                  <a:srgbClr val="10201E"/>
                </a:solidFill>
              </a:defRPr>
            </a:lvl2pPr>
            <a:lvl3pPr>
              <a:defRPr sz="1350" b="0">
                <a:solidFill>
                  <a:srgbClr val="10201E"/>
                </a:solidFill>
              </a:defRPr>
            </a:lvl3pPr>
            <a:lvl4pPr>
              <a:defRPr sz="1350" b="0">
                <a:solidFill>
                  <a:srgbClr val="10201E"/>
                </a:solidFill>
              </a:defRPr>
            </a:lvl4pPr>
            <a:lvl5pPr>
              <a:defRPr sz="1350" b="0">
                <a:solidFill>
                  <a:srgbClr val="10201E"/>
                </a:solidFill>
              </a:defRPr>
            </a:lvl5pPr>
            <a:lvl6pPr>
              <a:defRPr sz="1350" b="0">
                <a:solidFill>
                  <a:srgbClr val="10201E"/>
                </a:solidFill>
              </a:defRPr>
            </a:lvl6pPr>
            <a:lvl7pPr>
              <a:defRPr sz="1350" b="0">
                <a:solidFill>
                  <a:srgbClr val="10201E"/>
                </a:solidFill>
              </a:defRPr>
            </a:lvl7pPr>
            <a:lvl8pPr>
              <a:defRPr sz="1350" b="0">
                <a:solidFill>
                  <a:srgbClr val="10201E"/>
                </a:solidFill>
              </a:defRPr>
            </a:lvl8pPr>
            <a:lvl9pPr>
              <a:defRPr sz="1350" b="0">
                <a:solidFill>
                  <a:srgbClr val="10201E"/>
                </a:solidFill>
              </a:defRPr>
            </a:lvl9pPr>
          </a:lstStyle>
          <a:p>
            <a:pPr>
              <a:defRPr sz="1350" b="0">
                <a:solidFill>
                  <a:srgbClr val="10201E"/>
                </a:solidFill>
              </a:defRPr>
            </a:pPr>
            <a:r>
              <a:rPr sz="1350" b="0">
                <a:solidFill>
                  <a:srgbClr val="10201E"/>
                </a:solidFill>
              </a:rPr>
              <a:t>• 每次 bootstrap 后重新选特征、重新训练 Ridge</a:t>
            </a:r>
            <a:endParaRPr sz="1350" b="0">
              <a:solidFill>
                <a:srgbClr val="10201E"/>
              </a:solidFill>
            </a:endParaRPr>
          </a:p>
          <a:p>
            <a:pPr>
              <a:defRPr sz="1350" b="0">
                <a:solidFill>
                  <a:srgbClr val="10201E"/>
                </a:solidFill>
              </a:defRPr>
            </a:pPr>
            <a:r>
              <a:rPr sz="1350" b="0">
                <a:solidFill>
                  <a:srgbClr val="10201E"/>
                </a:solidFill>
              </a:rPr>
              <a:t>• 100 次特征选择落在 56 个不同特征上，显示单次选择不稳定</a:t>
            </a:r>
            <a:endParaRPr sz="1350" b="0">
              <a:solidFill>
                <a:srgbClr val="10201E"/>
              </a:solidFill>
            </a:endParaRPr>
          </a:p>
          <a:p>
            <a:pPr>
              <a:defRPr sz="1350" b="0">
                <a:solidFill>
                  <a:srgbClr val="10201E"/>
                </a:solidFill>
              </a:defRPr>
            </a:pPr>
            <a:r>
              <a:rPr sz="1350" b="0">
                <a:solidFill>
                  <a:srgbClr val="10201E"/>
                </a:solidFill>
              </a:rPr>
              <a:t>• 平均 20 个预测后，103 个构建体获得不同预测</a:t>
            </a:r>
            <a:endParaRPr sz="1350" b="0">
              <a:solidFill>
                <a:srgbClr val="10201E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000750" y="1485900"/>
            <a:ext cx="0" cy="2990850"/>
          </a:xfrm>
          <a:prstGeom prst="line">
            <a:avLst/>
          </a:prstGeom>
          <a:ln w="19050">
            <a:solidFill>
              <a:srgbClr val="D6E2D9"/>
            </a:solidFill>
            <a:prstDash val="solid"/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1238250" y="4610100"/>
            <a:ext cx="9715500" cy="704850"/>
          </a:xfrm>
          <a:prstGeom prst="roundRect">
            <a:avLst>
              <a:gd name="adj" fmla="val 10811"/>
            </a:avLst>
          </a:prstGeom>
          <a:solidFill>
            <a:srgbClr val="113D37"/>
          </a:solidFill>
          <a:ln w="9525">
            <a:solidFill>
              <a:srgbClr val="113D37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581150" y="4819650"/>
            <a:ext cx="9029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FFFFFF"/>
                </a:solidFill>
              </a:defRPr>
            </a:defPPr>
            <a:lvl1pPr>
              <a:defRPr sz="1425" b="1">
                <a:solidFill>
                  <a:srgbClr val="FFFFFF"/>
                </a:solidFill>
              </a:defRPr>
            </a:lvl1pPr>
            <a:lvl2pPr>
              <a:defRPr sz="1425" b="1">
                <a:solidFill>
                  <a:srgbClr val="FFFFFF"/>
                </a:solidFill>
              </a:defRPr>
            </a:lvl2pPr>
            <a:lvl3pPr>
              <a:defRPr sz="1425" b="1">
                <a:solidFill>
                  <a:srgbClr val="FFFFFF"/>
                </a:solidFill>
              </a:defRPr>
            </a:lvl3pPr>
            <a:lvl4pPr>
              <a:defRPr sz="1425" b="1">
                <a:solidFill>
                  <a:srgbClr val="FFFFFF"/>
                </a:solidFill>
              </a:defRPr>
            </a:lvl4pPr>
            <a:lvl5pPr>
              <a:defRPr sz="1425" b="1">
                <a:solidFill>
                  <a:srgbClr val="FFFFFF"/>
                </a:solidFill>
              </a:defRPr>
            </a:lvl5pPr>
            <a:lvl6pPr>
              <a:defRPr sz="1425" b="1">
                <a:solidFill>
                  <a:srgbClr val="FFFFFF"/>
                </a:solidFill>
              </a:defRPr>
            </a:lvl6pPr>
            <a:lvl7pPr>
              <a:defRPr sz="1425" b="1">
                <a:solidFill>
                  <a:srgbClr val="FFFFFF"/>
                </a:solidFill>
              </a:defRPr>
            </a:lvl7pPr>
            <a:lvl8pPr>
              <a:defRPr sz="1425" b="1">
                <a:solidFill>
                  <a:srgbClr val="FFFFFF"/>
                </a:solidFill>
              </a:defRPr>
            </a:lvl8pPr>
            <a:lvl9pPr>
              <a:defRPr sz="1425" b="1">
                <a:solidFill>
                  <a:srgbClr val="FFFFFF"/>
                </a:solidFill>
              </a:defRPr>
            </a:lvl9pPr>
          </a:lstStyle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选择理由：接受 r(log) 从 0.257 降至约 0.156，换取更稳定的排序和每个候选的子模型分歧提示。</a:t>
            </a:r>
            <a:endParaRPr sz="142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6477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10201E"/>
                </a:solidFill>
              </a:defRPr>
            </a:defPPr>
            <a:lvl1pPr>
              <a:defRPr sz="2850" b="1">
                <a:solidFill>
                  <a:srgbClr val="10201E"/>
                </a:solidFill>
              </a:defRPr>
            </a:lvl1pPr>
            <a:lvl2pPr>
              <a:defRPr sz="2850" b="1">
                <a:solidFill>
                  <a:srgbClr val="10201E"/>
                </a:solidFill>
              </a:defRPr>
            </a:lvl2pPr>
            <a:lvl3pPr>
              <a:defRPr sz="2850" b="1">
                <a:solidFill>
                  <a:srgbClr val="10201E"/>
                </a:solidFill>
              </a:defRPr>
            </a:lvl3pPr>
            <a:lvl4pPr>
              <a:defRPr sz="2850" b="1">
                <a:solidFill>
                  <a:srgbClr val="10201E"/>
                </a:solidFill>
              </a:defRPr>
            </a:lvl4pPr>
            <a:lvl5pPr>
              <a:defRPr sz="2850" b="1">
                <a:solidFill>
                  <a:srgbClr val="10201E"/>
                </a:solidFill>
              </a:defRPr>
            </a:lvl5pPr>
            <a:lvl6pPr>
              <a:defRPr sz="2850" b="1">
                <a:solidFill>
                  <a:srgbClr val="10201E"/>
                </a:solidFill>
              </a:defRPr>
            </a:lvl6pPr>
            <a:lvl7pPr>
              <a:defRPr sz="2850" b="1">
                <a:solidFill>
                  <a:srgbClr val="10201E"/>
                </a:solidFill>
              </a:defRPr>
            </a:lvl7pPr>
            <a:lvl8pPr>
              <a:defRPr sz="2850" b="1">
                <a:solidFill>
                  <a:srgbClr val="10201E"/>
                </a:solidFill>
              </a:defRPr>
            </a:lvl8pPr>
            <a:lvl9pPr>
              <a:defRPr sz="2850" b="1">
                <a:solidFill>
                  <a:srgbClr val="10201E"/>
                </a:solidFill>
              </a:defRPr>
            </a:lvl9pPr>
          </a:lstStyle>
          <a:p>
            <a:pPr>
              <a:defRPr sz="2850" b="1">
                <a:solidFill>
                  <a:srgbClr val="10201E"/>
                </a:solidFill>
              </a:defRPr>
            </a:pPr>
            <a:r>
              <a:rPr sz="2850" b="1">
                <a:solidFill>
                  <a:srgbClr val="10201E"/>
                </a:solidFill>
              </a:rPr>
              <a:t>模型训练：Ridge 回归与 20 次重采样</a:t>
            </a:r>
            <a:endParaRPr sz="2850" b="1">
              <a:solidFill>
                <a:srgbClr val="10201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620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86861"/>
                </a:solidFill>
              </a:defRPr>
            </a:defPPr>
            <a:lvl1pPr>
              <a:defRPr sz="1275" b="0">
                <a:solidFill>
                  <a:srgbClr val="586861"/>
                </a:solidFill>
              </a:defRPr>
            </a:lvl1pPr>
            <a:lvl2pPr>
              <a:defRPr sz="1275" b="0">
                <a:solidFill>
                  <a:srgbClr val="586861"/>
                </a:solidFill>
              </a:defRPr>
            </a:lvl2pPr>
            <a:lvl3pPr>
              <a:defRPr sz="1275" b="0">
                <a:solidFill>
                  <a:srgbClr val="586861"/>
                </a:solidFill>
              </a:defRPr>
            </a:lvl3pPr>
            <a:lvl4pPr>
              <a:defRPr sz="1275" b="0">
                <a:solidFill>
                  <a:srgbClr val="586861"/>
                </a:solidFill>
              </a:defRPr>
            </a:lvl4pPr>
            <a:lvl5pPr>
              <a:defRPr sz="1275" b="0">
                <a:solidFill>
                  <a:srgbClr val="586861"/>
                </a:solidFill>
              </a:defRPr>
            </a:lvl5pPr>
            <a:lvl6pPr>
              <a:defRPr sz="1275" b="0">
                <a:solidFill>
                  <a:srgbClr val="586861"/>
                </a:solidFill>
              </a:defRPr>
            </a:lvl6pPr>
            <a:lvl7pPr>
              <a:defRPr sz="1275" b="0">
                <a:solidFill>
                  <a:srgbClr val="586861"/>
                </a:solidFill>
              </a:defRPr>
            </a:lvl7pPr>
            <a:lvl8pPr>
              <a:defRPr sz="1275" b="0">
                <a:solidFill>
                  <a:srgbClr val="586861"/>
                </a:solidFill>
              </a:defRPr>
            </a:lvl8pPr>
            <a:lvl9pPr>
              <a:defRPr sz="1275" b="0">
                <a:solidFill>
                  <a:srgbClr val="586861"/>
                </a:solidFill>
              </a:defRPr>
            </a:lvl9pPr>
          </a:lstStyle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每个测试构建体都由未见过它的模型预测</a:t>
            </a:r>
            <a:endParaRPr sz="1275" b="0">
              <a:solidFill>
                <a:srgbClr val="586861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1581150"/>
            <a:ext cx="5191125" cy="1524000"/>
          </a:xfrm>
          <a:prstGeom prst="roundRect">
            <a:avLst>
              <a:gd name="adj" fmla="val 5000"/>
            </a:avLst>
          </a:prstGeom>
          <a:solidFill>
            <a:srgbClr val="E9F3EC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75260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0D665C"/>
                </a:solidFill>
              </a:defRPr>
            </a:defPPr>
            <a:lvl1pPr>
              <a:defRPr sz="1275" b="1">
                <a:solidFill>
                  <a:srgbClr val="0D665C"/>
                </a:solidFill>
              </a:defRPr>
            </a:lvl1pPr>
            <a:lvl2pPr>
              <a:defRPr sz="1275" b="1">
                <a:solidFill>
                  <a:srgbClr val="0D665C"/>
                </a:solidFill>
              </a:defRPr>
            </a:lvl2pPr>
            <a:lvl3pPr>
              <a:defRPr sz="1275" b="1">
                <a:solidFill>
                  <a:srgbClr val="0D665C"/>
                </a:solidFill>
              </a:defRPr>
            </a:lvl3pPr>
            <a:lvl4pPr>
              <a:defRPr sz="1275" b="1">
                <a:solidFill>
                  <a:srgbClr val="0D665C"/>
                </a:solidFill>
              </a:defRPr>
            </a:lvl4pPr>
            <a:lvl5pPr>
              <a:defRPr sz="1275" b="1">
                <a:solidFill>
                  <a:srgbClr val="0D665C"/>
                </a:solidFill>
              </a:defRPr>
            </a:lvl5pPr>
            <a:lvl6pPr>
              <a:defRPr sz="1275" b="1">
                <a:solidFill>
                  <a:srgbClr val="0D665C"/>
                </a:solidFill>
              </a:defRPr>
            </a:lvl6pPr>
            <a:lvl7pPr>
              <a:defRPr sz="1275" b="1">
                <a:solidFill>
                  <a:srgbClr val="0D665C"/>
                </a:solidFill>
              </a:defRPr>
            </a:lvl7pPr>
            <a:lvl8pPr>
              <a:defRPr sz="1275" b="1">
                <a:solidFill>
                  <a:srgbClr val="0D665C"/>
                </a:solidFill>
              </a:defRPr>
            </a:lvl8pPr>
            <a:lvl9pPr>
              <a:defRPr sz="1275" b="1">
                <a:solidFill>
                  <a:srgbClr val="0D665C"/>
                </a:solidFill>
              </a:defRPr>
            </a:lvl9pPr>
          </a:lstStyle>
          <a:p>
            <a:pPr>
              <a:defRPr sz="1275" b="1">
                <a:solidFill>
                  <a:srgbClr val="0D665C"/>
                </a:solidFill>
              </a:defRPr>
            </a:pPr>
            <a:r>
              <a:rPr sz="1275" b="1">
                <a:solidFill>
                  <a:srgbClr val="0D665C"/>
                </a:solidFill>
              </a:rPr>
              <a:t>1</a:t>
            </a:r>
            <a:endParaRPr sz="1275" b="1">
              <a:solidFill>
                <a:srgbClr val="0D665C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352550" y="173355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10201E"/>
                </a:solidFill>
              </a:defRPr>
            </a:defPPr>
            <a:lvl1pPr>
              <a:defRPr sz="1575" b="1">
                <a:solidFill>
                  <a:srgbClr val="10201E"/>
                </a:solidFill>
              </a:defRPr>
            </a:lvl1pPr>
            <a:lvl2pPr>
              <a:defRPr sz="1575" b="1">
                <a:solidFill>
                  <a:srgbClr val="10201E"/>
                </a:solidFill>
              </a:defRPr>
            </a:lvl2pPr>
            <a:lvl3pPr>
              <a:defRPr sz="1575" b="1">
                <a:solidFill>
                  <a:srgbClr val="10201E"/>
                </a:solidFill>
              </a:defRPr>
            </a:lvl3pPr>
            <a:lvl4pPr>
              <a:defRPr sz="1575" b="1">
                <a:solidFill>
                  <a:srgbClr val="10201E"/>
                </a:solidFill>
              </a:defRPr>
            </a:lvl4pPr>
            <a:lvl5pPr>
              <a:defRPr sz="1575" b="1">
                <a:solidFill>
                  <a:srgbClr val="10201E"/>
                </a:solidFill>
              </a:defRPr>
            </a:lvl5pPr>
            <a:lvl6pPr>
              <a:defRPr sz="1575" b="1">
                <a:solidFill>
                  <a:srgbClr val="10201E"/>
                </a:solidFill>
              </a:defRPr>
            </a:lvl6pPr>
            <a:lvl7pPr>
              <a:defRPr sz="1575" b="1">
                <a:solidFill>
                  <a:srgbClr val="10201E"/>
                </a:solidFill>
              </a:defRPr>
            </a:lvl7pPr>
            <a:lvl8pPr>
              <a:defRPr sz="1575" b="1">
                <a:solidFill>
                  <a:srgbClr val="10201E"/>
                </a:solidFill>
              </a:defRPr>
            </a:lvl8pPr>
            <a:lvl9pPr>
              <a:defRPr sz="1575" b="1">
                <a:solidFill>
                  <a:srgbClr val="10201E"/>
                </a:solidFill>
              </a:defRPr>
            </a:lvl9pPr>
          </a:lstStyle>
          <a:p>
            <a:pPr>
              <a:defRPr sz="1575" b="1">
                <a:solidFill>
                  <a:srgbClr val="10201E"/>
                </a:solidFill>
              </a:defRPr>
            </a:pPr>
            <a:r>
              <a:rPr sz="1575" b="1">
                <a:solidFill>
                  <a:srgbClr val="10201E"/>
                </a:solidFill>
              </a:rPr>
              <a:t>分组切分</a:t>
            </a:r>
            <a:endParaRPr sz="1575" b="1">
              <a:solidFill>
                <a:srgbClr val="10201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14400" y="2181225"/>
            <a:ext cx="4714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86861"/>
                </a:solidFill>
              </a:defRPr>
            </a:defPPr>
            <a:lvl1pPr>
              <a:defRPr sz="1200" b="0">
                <a:solidFill>
                  <a:srgbClr val="586861"/>
                </a:solidFill>
              </a:defRPr>
            </a:lvl1pPr>
            <a:lvl2pPr>
              <a:defRPr sz="1200" b="0">
                <a:solidFill>
                  <a:srgbClr val="586861"/>
                </a:solidFill>
              </a:defRPr>
            </a:lvl2pPr>
            <a:lvl3pPr>
              <a:defRPr sz="1200" b="0">
                <a:solidFill>
                  <a:srgbClr val="586861"/>
                </a:solidFill>
              </a:defRPr>
            </a:lvl3pPr>
            <a:lvl4pPr>
              <a:defRPr sz="1200" b="0">
                <a:solidFill>
                  <a:srgbClr val="586861"/>
                </a:solidFill>
              </a:defRPr>
            </a:lvl4pPr>
            <a:lvl5pPr>
              <a:defRPr sz="1200" b="0">
                <a:solidFill>
                  <a:srgbClr val="586861"/>
                </a:solidFill>
              </a:defRPr>
            </a:lvl5pPr>
            <a:lvl6pPr>
              <a:defRPr sz="1200" b="0">
                <a:solidFill>
                  <a:srgbClr val="586861"/>
                </a:solidFill>
              </a:defRPr>
            </a:lvl6pPr>
            <a:lvl7pPr>
              <a:defRPr sz="1200" b="0">
                <a:solidFill>
                  <a:srgbClr val="586861"/>
                </a:solidFill>
              </a:defRPr>
            </a:lvl7pPr>
            <a:lvl8pPr>
              <a:defRPr sz="1200" b="0">
                <a:solidFill>
                  <a:srgbClr val="586861"/>
                </a:solidFill>
              </a:defRPr>
            </a:lvl8pPr>
            <a:lvl9pPr>
              <a:defRPr sz="1200" b="0">
                <a:solidFill>
                  <a:srgbClr val="586861"/>
                </a:solidFill>
              </a:defRPr>
            </a:lvl9pPr>
          </a:lstStyle>
          <a:p>
            <a:pPr>
              <a:defRPr sz="1200" b="0">
                <a:solidFill>
                  <a:srgbClr val="586861"/>
                </a:solidFill>
              </a:defRPr>
            </a:pPr>
            <a:r>
              <a:rPr sz="1200" b="0">
                <a:solidFill>
                  <a:srgbClr val="586861"/>
                </a:solidFill>
              </a:rPr>
              <a:t>按目标蛋白分组。测试折中的蛋白不会出现在训练折。</a:t>
            </a:r>
            <a:endParaRPr sz="1200" b="0">
              <a:solidFill>
                <a:srgbClr val="586861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85800" y="3667125"/>
            <a:ext cx="5191125" cy="1524000"/>
          </a:xfrm>
          <a:prstGeom prst="roundRect">
            <a:avLst>
              <a:gd name="adj" fmla="val 5000"/>
            </a:avLst>
          </a:prstGeom>
          <a:solidFill>
            <a:srgbClr val="E9F3EC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383857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0D665C"/>
                </a:solidFill>
              </a:defRPr>
            </a:defPPr>
            <a:lvl1pPr>
              <a:defRPr sz="1275" b="1">
                <a:solidFill>
                  <a:srgbClr val="0D665C"/>
                </a:solidFill>
              </a:defRPr>
            </a:lvl1pPr>
            <a:lvl2pPr>
              <a:defRPr sz="1275" b="1">
                <a:solidFill>
                  <a:srgbClr val="0D665C"/>
                </a:solidFill>
              </a:defRPr>
            </a:lvl2pPr>
            <a:lvl3pPr>
              <a:defRPr sz="1275" b="1">
                <a:solidFill>
                  <a:srgbClr val="0D665C"/>
                </a:solidFill>
              </a:defRPr>
            </a:lvl3pPr>
            <a:lvl4pPr>
              <a:defRPr sz="1275" b="1">
                <a:solidFill>
                  <a:srgbClr val="0D665C"/>
                </a:solidFill>
              </a:defRPr>
            </a:lvl4pPr>
            <a:lvl5pPr>
              <a:defRPr sz="1275" b="1">
                <a:solidFill>
                  <a:srgbClr val="0D665C"/>
                </a:solidFill>
              </a:defRPr>
            </a:lvl5pPr>
            <a:lvl6pPr>
              <a:defRPr sz="1275" b="1">
                <a:solidFill>
                  <a:srgbClr val="0D665C"/>
                </a:solidFill>
              </a:defRPr>
            </a:lvl6pPr>
            <a:lvl7pPr>
              <a:defRPr sz="1275" b="1">
                <a:solidFill>
                  <a:srgbClr val="0D665C"/>
                </a:solidFill>
              </a:defRPr>
            </a:lvl7pPr>
            <a:lvl8pPr>
              <a:defRPr sz="1275" b="1">
                <a:solidFill>
                  <a:srgbClr val="0D665C"/>
                </a:solidFill>
              </a:defRPr>
            </a:lvl8pPr>
            <a:lvl9pPr>
              <a:defRPr sz="1275" b="1">
                <a:solidFill>
                  <a:srgbClr val="0D665C"/>
                </a:solidFill>
              </a:defRPr>
            </a:lvl9pPr>
          </a:lstStyle>
          <a:p>
            <a:pPr>
              <a:defRPr sz="1275" b="1">
                <a:solidFill>
                  <a:srgbClr val="0D665C"/>
                </a:solidFill>
              </a:defRPr>
            </a:pPr>
            <a:r>
              <a:rPr sz="1275" b="1">
                <a:solidFill>
                  <a:srgbClr val="0D665C"/>
                </a:solidFill>
              </a:rPr>
              <a:t>2</a:t>
            </a:r>
            <a:endParaRPr sz="1275" b="1">
              <a:solidFill>
                <a:srgbClr val="0D665C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52550" y="3819525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10201E"/>
                </a:solidFill>
              </a:defRPr>
            </a:defPPr>
            <a:lvl1pPr>
              <a:defRPr sz="1575" b="1">
                <a:solidFill>
                  <a:srgbClr val="10201E"/>
                </a:solidFill>
              </a:defRPr>
            </a:lvl1pPr>
            <a:lvl2pPr>
              <a:defRPr sz="1575" b="1">
                <a:solidFill>
                  <a:srgbClr val="10201E"/>
                </a:solidFill>
              </a:defRPr>
            </a:lvl2pPr>
            <a:lvl3pPr>
              <a:defRPr sz="1575" b="1">
                <a:solidFill>
                  <a:srgbClr val="10201E"/>
                </a:solidFill>
              </a:defRPr>
            </a:lvl3pPr>
            <a:lvl4pPr>
              <a:defRPr sz="1575" b="1">
                <a:solidFill>
                  <a:srgbClr val="10201E"/>
                </a:solidFill>
              </a:defRPr>
            </a:lvl4pPr>
            <a:lvl5pPr>
              <a:defRPr sz="1575" b="1">
                <a:solidFill>
                  <a:srgbClr val="10201E"/>
                </a:solidFill>
              </a:defRPr>
            </a:lvl5pPr>
            <a:lvl6pPr>
              <a:defRPr sz="1575" b="1">
                <a:solidFill>
                  <a:srgbClr val="10201E"/>
                </a:solidFill>
              </a:defRPr>
            </a:lvl6pPr>
            <a:lvl7pPr>
              <a:defRPr sz="1575" b="1">
                <a:solidFill>
                  <a:srgbClr val="10201E"/>
                </a:solidFill>
              </a:defRPr>
            </a:lvl7pPr>
            <a:lvl8pPr>
              <a:defRPr sz="1575" b="1">
                <a:solidFill>
                  <a:srgbClr val="10201E"/>
                </a:solidFill>
              </a:defRPr>
            </a:lvl8pPr>
            <a:lvl9pPr>
              <a:defRPr sz="1575" b="1">
                <a:solidFill>
                  <a:srgbClr val="10201E"/>
                </a:solidFill>
              </a:defRPr>
            </a:lvl9pPr>
          </a:lstStyle>
          <a:p>
            <a:pPr>
              <a:defRPr sz="1575" b="1">
                <a:solidFill>
                  <a:srgbClr val="10201E"/>
                </a:solidFill>
              </a:defRPr>
            </a:pPr>
            <a:r>
              <a:rPr sz="1575" b="1">
                <a:solidFill>
                  <a:srgbClr val="10201E"/>
                </a:solidFill>
              </a:rPr>
              <a:t>训练折内选特征</a:t>
            </a:r>
            <a:endParaRPr sz="1575" b="1">
              <a:solidFill>
                <a:srgbClr val="10201E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4400" y="4267200"/>
            <a:ext cx="4714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86861"/>
                </a:solidFill>
              </a:defRPr>
            </a:defPPr>
            <a:lvl1pPr>
              <a:defRPr sz="1200" b="0">
                <a:solidFill>
                  <a:srgbClr val="586861"/>
                </a:solidFill>
              </a:defRPr>
            </a:lvl1pPr>
            <a:lvl2pPr>
              <a:defRPr sz="1200" b="0">
                <a:solidFill>
                  <a:srgbClr val="586861"/>
                </a:solidFill>
              </a:defRPr>
            </a:lvl2pPr>
            <a:lvl3pPr>
              <a:defRPr sz="1200" b="0">
                <a:solidFill>
                  <a:srgbClr val="586861"/>
                </a:solidFill>
              </a:defRPr>
            </a:lvl3pPr>
            <a:lvl4pPr>
              <a:defRPr sz="1200" b="0">
                <a:solidFill>
                  <a:srgbClr val="586861"/>
                </a:solidFill>
              </a:defRPr>
            </a:lvl4pPr>
            <a:lvl5pPr>
              <a:defRPr sz="1200" b="0">
                <a:solidFill>
                  <a:srgbClr val="586861"/>
                </a:solidFill>
              </a:defRPr>
            </a:lvl5pPr>
            <a:lvl6pPr>
              <a:defRPr sz="1200" b="0">
                <a:solidFill>
                  <a:srgbClr val="586861"/>
                </a:solidFill>
              </a:defRPr>
            </a:lvl6pPr>
            <a:lvl7pPr>
              <a:defRPr sz="1200" b="0">
                <a:solidFill>
                  <a:srgbClr val="586861"/>
                </a:solidFill>
              </a:defRPr>
            </a:lvl7pPr>
            <a:lvl8pPr>
              <a:defRPr sz="1200" b="0">
                <a:solidFill>
                  <a:srgbClr val="586861"/>
                </a:solidFill>
              </a:defRPr>
            </a:lvl8pPr>
            <a:lvl9pPr>
              <a:defRPr sz="1200" b="0">
                <a:solidFill>
                  <a:srgbClr val="586861"/>
                </a:solidFill>
              </a:defRPr>
            </a:lvl9pPr>
          </a:lstStyle>
          <a:p>
            <a:pPr>
              <a:defRPr sz="1200" b="0">
                <a:solidFill>
                  <a:srgbClr val="586861"/>
                </a:solidFill>
              </a:defRPr>
            </a:pPr>
            <a:r>
              <a:rPr sz="1200" b="0">
                <a:solidFill>
                  <a:srgbClr val="586861"/>
                </a:solidFill>
              </a:rPr>
              <a:t>缺失值填补后，用 ANOVA 从 1,144 列中</a:t>
            </a:r>
            <a:r>
              <a:rPr lang="zh-CN" sz="1200" b="0">
                <a:solidFill>
                  <a:srgbClr val="586861"/>
                </a:solidFill>
              </a:rPr>
              <a:t>选择</a:t>
            </a:r>
            <a:r>
              <a:rPr lang="en-US" altLang="zh-CN" sz="1200" b="0">
                <a:solidFill>
                  <a:srgbClr val="586861"/>
                </a:solidFill>
              </a:rPr>
              <a:t>5</a:t>
            </a:r>
            <a:r>
              <a:rPr lang="zh-CN" altLang="en-US" sz="1200" b="0">
                <a:solidFill>
                  <a:srgbClr val="586861"/>
                </a:solidFill>
              </a:rPr>
              <a:t>个</a:t>
            </a:r>
            <a:r>
              <a:rPr sz="1200" b="0">
                <a:solidFill>
                  <a:srgbClr val="586861"/>
                </a:solidFill>
              </a:rPr>
              <a:t>特征。</a:t>
            </a:r>
            <a:endParaRPr sz="1200" b="0">
              <a:solidFill>
                <a:srgbClr val="586861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315075" y="1581150"/>
            <a:ext cx="5191125" cy="1524000"/>
          </a:xfrm>
          <a:prstGeom prst="roundRect">
            <a:avLst>
              <a:gd name="adj" fmla="val 5000"/>
            </a:avLst>
          </a:prstGeom>
          <a:solidFill>
            <a:srgbClr val="E9F3EC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505575" y="1752600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0D665C"/>
                </a:solidFill>
              </a:defRPr>
            </a:defPPr>
            <a:lvl1pPr>
              <a:defRPr sz="1275" b="1">
                <a:solidFill>
                  <a:srgbClr val="0D665C"/>
                </a:solidFill>
              </a:defRPr>
            </a:lvl1pPr>
            <a:lvl2pPr>
              <a:defRPr sz="1275" b="1">
                <a:solidFill>
                  <a:srgbClr val="0D665C"/>
                </a:solidFill>
              </a:defRPr>
            </a:lvl2pPr>
            <a:lvl3pPr>
              <a:defRPr sz="1275" b="1">
                <a:solidFill>
                  <a:srgbClr val="0D665C"/>
                </a:solidFill>
              </a:defRPr>
            </a:lvl3pPr>
            <a:lvl4pPr>
              <a:defRPr sz="1275" b="1">
                <a:solidFill>
                  <a:srgbClr val="0D665C"/>
                </a:solidFill>
              </a:defRPr>
            </a:lvl4pPr>
            <a:lvl5pPr>
              <a:defRPr sz="1275" b="1">
                <a:solidFill>
                  <a:srgbClr val="0D665C"/>
                </a:solidFill>
              </a:defRPr>
            </a:lvl5pPr>
            <a:lvl6pPr>
              <a:defRPr sz="1275" b="1">
                <a:solidFill>
                  <a:srgbClr val="0D665C"/>
                </a:solidFill>
              </a:defRPr>
            </a:lvl6pPr>
            <a:lvl7pPr>
              <a:defRPr sz="1275" b="1">
                <a:solidFill>
                  <a:srgbClr val="0D665C"/>
                </a:solidFill>
              </a:defRPr>
            </a:lvl7pPr>
            <a:lvl8pPr>
              <a:defRPr sz="1275" b="1">
                <a:solidFill>
                  <a:srgbClr val="0D665C"/>
                </a:solidFill>
              </a:defRPr>
            </a:lvl8pPr>
            <a:lvl9pPr>
              <a:defRPr sz="1275" b="1">
                <a:solidFill>
                  <a:srgbClr val="0D665C"/>
                </a:solidFill>
              </a:defRPr>
            </a:lvl9pPr>
          </a:lstStyle>
          <a:p>
            <a:pPr>
              <a:defRPr sz="1275" b="1">
                <a:solidFill>
                  <a:srgbClr val="0D665C"/>
                </a:solidFill>
              </a:defRPr>
            </a:pPr>
            <a:r>
              <a:rPr sz="1275" b="1">
                <a:solidFill>
                  <a:srgbClr val="0D665C"/>
                </a:solidFill>
              </a:rPr>
              <a:t>3</a:t>
            </a:r>
            <a:endParaRPr sz="1275" b="1">
              <a:solidFill>
                <a:srgbClr val="0D665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981825" y="173355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10201E"/>
                </a:solidFill>
              </a:defRPr>
            </a:defPPr>
            <a:lvl1pPr>
              <a:defRPr sz="1575" b="1">
                <a:solidFill>
                  <a:srgbClr val="10201E"/>
                </a:solidFill>
              </a:defRPr>
            </a:lvl1pPr>
            <a:lvl2pPr>
              <a:defRPr sz="1575" b="1">
                <a:solidFill>
                  <a:srgbClr val="10201E"/>
                </a:solidFill>
              </a:defRPr>
            </a:lvl2pPr>
            <a:lvl3pPr>
              <a:defRPr sz="1575" b="1">
                <a:solidFill>
                  <a:srgbClr val="10201E"/>
                </a:solidFill>
              </a:defRPr>
            </a:lvl3pPr>
            <a:lvl4pPr>
              <a:defRPr sz="1575" b="1">
                <a:solidFill>
                  <a:srgbClr val="10201E"/>
                </a:solidFill>
              </a:defRPr>
            </a:lvl4pPr>
            <a:lvl5pPr>
              <a:defRPr sz="1575" b="1">
                <a:solidFill>
                  <a:srgbClr val="10201E"/>
                </a:solidFill>
              </a:defRPr>
            </a:lvl5pPr>
            <a:lvl6pPr>
              <a:defRPr sz="1575" b="1">
                <a:solidFill>
                  <a:srgbClr val="10201E"/>
                </a:solidFill>
              </a:defRPr>
            </a:lvl6pPr>
            <a:lvl7pPr>
              <a:defRPr sz="1575" b="1">
                <a:solidFill>
                  <a:srgbClr val="10201E"/>
                </a:solidFill>
              </a:defRPr>
            </a:lvl7pPr>
            <a:lvl8pPr>
              <a:defRPr sz="1575" b="1">
                <a:solidFill>
                  <a:srgbClr val="10201E"/>
                </a:solidFill>
              </a:defRPr>
            </a:lvl8pPr>
            <a:lvl9pPr>
              <a:defRPr sz="1575" b="1">
                <a:solidFill>
                  <a:srgbClr val="10201E"/>
                </a:solidFill>
              </a:defRPr>
            </a:lvl9pPr>
          </a:lstStyle>
          <a:p>
            <a:pPr>
              <a:defRPr sz="1575" b="1">
                <a:solidFill>
                  <a:srgbClr val="10201E"/>
                </a:solidFill>
              </a:defRPr>
            </a:pPr>
            <a:r>
              <a:rPr sz="1575" b="1">
                <a:solidFill>
                  <a:srgbClr val="10201E"/>
                </a:solidFill>
              </a:rPr>
              <a:t>Ridge 回归</a:t>
            </a:r>
            <a:endParaRPr sz="1575" b="1">
              <a:solidFill>
                <a:srgbClr val="10201E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43675" y="2181225"/>
            <a:ext cx="4714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586861"/>
                </a:solidFill>
              </a:defRPr>
            </a:defPPr>
            <a:lvl1pPr>
              <a:defRPr sz="1200" b="0">
                <a:solidFill>
                  <a:srgbClr val="586861"/>
                </a:solidFill>
              </a:defRPr>
            </a:lvl1pPr>
            <a:lvl2pPr>
              <a:defRPr sz="1200" b="0">
                <a:solidFill>
                  <a:srgbClr val="586861"/>
                </a:solidFill>
              </a:defRPr>
            </a:lvl2pPr>
            <a:lvl3pPr>
              <a:defRPr sz="1200" b="0">
                <a:solidFill>
                  <a:srgbClr val="586861"/>
                </a:solidFill>
              </a:defRPr>
            </a:lvl3pPr>
            <a:lvl4pPr>
              <a:defRPr sz="1200" b="0">
                <a:solidFill>
                  <a:srgbClr val="586861"/>
                </a:solidFill>
              </a:defRPr>
            </a:lvl4pPr>
            <a:lvl5pPr>
              <a:defRPr sz="1200" b="0">
                <a:solidFill>
                  <a:srgbClr val="586861"/>
                </a:solidFill>
              </a:defRPr>
            </a:lvl5pPr>
            <a:lvl6pPr>
              <a:defRPr sz="1200" b="0">
                <a:solidFill>
                  <a:srgbClr val="586861"/>
                </a:solidFill>
              </a:defRPr>
            </a:lvl6pPr>
            <a:lvl7pPr>
              <a:defRPr sz="1200" b="0">
                <a:solidFill>
                  <a:srgbClr val="586861"/>
                </a:solidFill>
              </a:defRPr>
            </a:lvl7pPr>
            <a:lvl8pPr>
              <a:defRPr sz="1200" b="0">
                <a:solidFill>
                  <a:srgbClr val="586861"/>
                </a:solidFill>
              </a:defRPr>
            </a:lvl8pPr>
            <a:lvl9pPr>
              <a:defRPr sz="1200" b="0">
                <a:solidFill>
                  <a:srgbClr val="586861"/>
                </a:solidFill>
              </a:defRPr>
            </a:lvl9pPr>
          </a:lstStyle>
          <a:p>
            <a:pPr>
              <a:defRPr sz="1200" b="0">
                <a:solidFill>
                  <a:srgbClr val="586861"/>
                </a:solidFill>
              </a:defRPr>
            </a:pPr>
            <a:r>
              <a:rPr sz="1200" b="0">
                <a:solidFill>
                  <a:srgbClr val="586861"/>
                </a:solidFill>
              </a:rPr>
              <a:t>监督回归：输入为序列特征，输出为 log10(1 + 最佳产量)。L2 正则化限制权重，减轻过拟合。</a:t>
            </a:r>
            <a:endParaRPr sz="1200" b="0">
              <a:solidFill>
                <a:srgbClr val="586861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315075" y="3667125"/>
            <a:ext cx="5191125" cy="1524000"/>
          </a:xfrm>
          <a:prstGeom prst="roundRect">
            <a:avLst>
              <a:gd name="adj" fmla="val 5000"/>
            </a:avLst>
          </a:prstGeom>
          <a:solidFill>
            <a:srgbClr val="113D37"/>
          </a:solidFill>
          <a:ln w="9525">
            <a:solidFill>
              <a:srgbClr val="113D3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505575" y="3838575"/>
            <a:ext cx="32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FFFFFF"/>
                </a:solidFill>
              </a:defRPr>
            </a:defPPr>
            <a:lvl1pPr>
              <a:defRPr sz="1275" b="1">
                <a:solidFill>
                  <a:srgbClr val="FFFFFF"/>
                </a:solidFill>
              </a:defRPr>
            </a:lvl1pPr>
            <a:lvl2pPr>
              <a:defRPr sz="1275" b="1">
                <a:solidFill>
                  <a:srgbClr val="FFFFFF"/>
                </a:solidFill>
              </a:defRPr>
            </a:lvl2pPr>
            <a:lvl3pPr>
              <a:defRPr sz="1275" b="1">
                <a:solidFill>
                  <a:srgbClr val="FFFFFF"/>
                </a:solidFill>
              </a:defRPr>
            </a:lvl3pPr>
            <a:lvl4pPr>
              <a:defRPr sz="1275" b="1">
                <a:solidFill>
                  <a:srgbClr val="FFFFFF"/>
                </a:solidFill>
              </a:defRPr>
            </a:lvl4pPr>
            <a:lvl5pPr>
              <a:defRPr sz="1275" b="1">
                <a:solidFill>
                  <a:srgbClr val="FFFFFF"/>
                </a:solidFill>
              </a:defRPr>
            </a:lvl5pPr>
            <a:lvl6pPr>
              <a:defRPr sz="1275" b="1">
                <a:solidFill>
                  <a:srgbClr val="FFFFFF"/>
                </a:solidFill>
              </a:defRPr>
            </a:lvl6pPr>
            <a:lvl7pPr>
              <a:defRPr sz="1275" b="1">
                <a:solidFill>
                  <a:srgbClr val="FFFFFF"/>
                </a:solidFill>
              </a:defRPr>
            </a:lvl7pPr>
            <a:lvl8pPr>
              <a:defRPr sz="1275" b="1">
                <a:solidFill>
                  <a:srgbClr val="FFFFFF"/>
                </a:solidFill>
              </a:defRPr>
            </a:lvl8pPr>
            <a:lvl9pPr>
              <a:defRPr sz="1275" b="1">
                <a:solidFill>
                  <a:srgbClr val="FFFFFF"/>
                </a:solidFill>
              </a:defRPr>
            </a:lvl9pPr>
          </a:lstStyle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981825" y="3819525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FFFFFF"/>
                </a:solidFill>
              </a:defRPr>
            </a:defPPr>
            <a:lvl1pPr>
              <a:defRPr sz="1575" b="1">
                <a:solidFill>
                  <a:srgbClr val="FFFFFF"/>
                </a:solidFill>
              </a:defRPr>
            </a:lvl1pPr>
            <a:lvl2pPr>
              <a:defRPr sz="1575" b="1">
                <a:solidFill>
                  <a:srgbClr val="FFFFFF"/>
                </a:solidFill>
              </a:defRPr>
            </a:lvl2pPr>
            <a:lvl3pPr>
              <a:defRPr sz="1575" b="1">
                <a:solidFill>
                  <a:srgbClr val="FFFFFF"/>
                </a:solidFill>
              </a:defRPr>
            </a:lvl3pPr>
            <a:lvl4pPr>
              <a:defRPr sz="1575" b="1">
                <a:solidFill>
                  <a:srgbClr val="FFFFFF"/>
                </a:solidFill>
              </a:defRPr>
            </a:lvl4pPr>
            <a:lvl5pPr>
              <a:defRPr sz="1575" b="1">
                <a:solidFill>
                  <a:srgbClr val="FFFFFF"/>
                </a:solidFill>
              </a:defRPr>
            </a:lvl5pPr>
            <a:lvl6pPr>
              <a:defRPr sz="1575" b="1">
                <a:solidFill>
                  <a:srgbClr val="FFFFFF"/>
                </a:solidFill>
              </a:defRPr>
            </a:lvl6pPr>
            <a:lvl7pPr>
              <a:defRPr sz="1575" b="1">
                <a:solidFill>
                  <a:srgbClr val="FFFFFF"/>
                </a:solidFill>
              </a:defRPr>
            </a:lvl7pPr>
            <a:lvl8pPr>
              <a:defRPr sz="1575" b="1">
                <a:solidFill>
                  <a:srgbClr val="FFFFFF"/>
                </a:solidFill>
              </a:defRPr>
            </a:lvl8pPr>
            <a:lvl9pPr>
              <a:defRPr sz="1575" b="1">
                <a:solidFill>
                  <a:srgbClr val="FFFFFF"/>
                </a:solidFill>
              </a:defRPr>
            </a:lvl9pPr>
          </a:lstStyle>
          <a:p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20 次重采样</a:t>
            </a:r>
            <a:endParaRPr sz="1575" b="1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543675" y="4267200"/>
            <a:ext cx="4714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FFFFFF"/>
                </a:solidFill>
              </a:defRPr>
            </a:defPPr>
            <a:lvl1pPr>
              <a:defRPr sz="1200" b="0">
                <a:solidFill>
                  <a:srgbClr val="FFFFFF"/>
                </a:solidFill>
              </a:defRPr>
            </a:lvl1pPr>
            <a:lvl2pPr>
              <a:defRPr sz="1200" b="0">
                <a:solidFill>
                  <a:srgbClr val="FFFFFF"/>
                </a:solidFill>
              </a:defRPr>
            </a:lvl2pPr>
            <a:lvl3pPr>
              <a:defRPr sz="1200" b="0">
                <a:solidFill>
                  <a:srgbClr val="FFFFFF"/>
                </a:solidFill>
              </a:defRPr>
            </a:lvl3pPr>
            <a:lvl4pPr>
              <a:defRPr sz="1200" b="0">
                <a:solidFill>
                  <a:srgbClr val="FFFFFF"/>
                </a:solidFill>
              </a:defRPr>
            </a:lvl4pPr>
            <a:lvl5pPr>
              <a:defRPr sz="1200" b="0">
                <a:solidFill>
                  <a:srgbClr val="FFFFFF"/>
                </a:solidFill>
              </a:defRPr>
            </a:lvl5pPr>
            <a:lvl6pPr>
              <a:defRPr sz="1200" b="0">
                <a:solidFill>
                  <a:srgbClr val="FFFFFF"/>
                </a:solidFill>
              </a:defRPr>
            </a:lvl6pPr>
            <a:lvl7pPr>
              <a:defRPr sz="1200" b="0">
                <a:solidFill>
                  <a:srgbClr val="FFFFFF"/>
                </a:solidFill>
              </a:defRPr>
            </a:lvl7pPr>
            <a:lvl8pPr>
              <a:defRPr sz="1200" b="0">
                <a:solidFill>
                  <a:srgbClr val="FFFFFF"/>
                </a:solidFill>
              </a:defRPr>
            </a:lvl8pPr>
            <a:lvl9pPr>
              <a:defRPr sz="1200" b="0">
                <a:solidFill>
                  <a:srgbClr val="FFFFFF"/>
                </a:solidFill>
              </a:defRPr>
            </a:lvl9pPr>
          </a:lstStyle>
          <a:p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每次对训练样本有放回抽样，重新选特征并训练。平均 20 个预测；子模型分歧作为不确定性。</a:t>
            </a:r>
            <a:endParaRPr sz="12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477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10201E"/>
                </a:solidFill>
              </a:defRPr>
            </a:defPPr>
            <a:lvl1pPr>
              <a:defRPr sz="2850" b="1">
                <a:solidFill>
                  <a:srgbClr val="10201E"/>
                </a:solidFill>
              </a:defRPr>
            </a:lvl1pPr>
            <a:lvl2pPr>
              <a:defRPr sz="2850" b="1">
                <a:solidFill>
                  <a:srgbClr val="10201E"/>
                </a:solidFill>
              </a:defRPr>
            </a:lvl2pPr>
            <a:lvl3pPr>
              <a:defRPr sz="2850" b="1">
                <a:solidFill>
                  <a:srgbClr val="10201E"/>
                </a:solidFill>
              </a:defRPr>
            </a:lvl3pPr>
            <a:lvl4pPr>
              <a:defRPr sz="2850" b="1">
                <a:solidFill>
                  <a:srgbClr val="10201E"/>
                </a:solidFill>
              </a:defRPr>
            </a:lvl4pPr>
            <a:lvl5pPr>
              <a:defRPr sz="2850" b="1">
                <a:solidFill>
                  <a:srgbClr val="10201E"/>
                </a:solidFill>
              </a:defRPr>
            </a:lvl5pPr>
            <a:lvl6pPr>
              <a:defRPr sz="2850" b="1">
                <a:solidFill>
                  <a:srgbClr val="10201E"/>
                </a:solidFill>
              </a:defRPr>
            </a:lvl6pPr>
            <a:lvl7pPr>
              <a:defRPr sz="2850" b="1">
                <a:solidFill>
                  <a:srgbClr val="10201E"/>
                </a:solidFill>
              </a:defRPr>
            </a:lvl7pPr>
            <a:lvl8pPr>
              <a:defRPr sz="2850" b="1">
                <a:solidFill>
                  <a:srgbClr val="10201E"/>
                </a:solidFill>
              </a:defRPr>
            </a:lvl8pPr>
            <a:lvl9pPr>
              <a:defRPr sz="2850" b="1">
                <a:solidFill>
                  <a:srgbClr val="10201E"/>
                </a:solidFill>
              </a:defRPr>
            </a:lvl9pPr>
          </a:lstStyle>
          <a:p>
            <a:pPr>
              <a:defRPr sz="2850" b="1">
                <a:solidFill>
                  <a:srgbClr val="10201E"/>
                </a:solidFill>
              </a:defRPr>
            </a:pPr>
            <a:r>
              <a:rPr sz="2850" b="1">
                <a:solidFill>
                  <a:srgbClr val="10201E"/>
                </a:solidFill>
              </a:rPr>
              <a:t>最终模型、应用边界与 Demo</a:t>
            </a:r>
            <a:endParaRPr sz="2850" b="1">
              <a:solidFill>
                <a:srgbClr val="10201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620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86861"/>
                </a:solidFill>
              </a:defRPr>
            </a:defPPr>
            <a:lvl1pPr>
              <a:defRPr sz="1275" b="0">
                <a:solidFill>
                  <a:srgbClr val="586861"/>
                </a:solidFill>
              </a:defRPr>
            </a:lvl1pPr>
            <a:lvl2pPr>
              <a:defRPr sz="1275" b="0">
                <a:solidFill>
                  <a:srgbClr val="586861"/>
                </a:solidFill>
              </a:defRPr>
            </a:lvl2pPr>
            <a:lvl3pPr>
              <a:defRPr sz="1275" b="0">
                <a:solidFill>
                  <a:srgbClr val="586861"/>
                </a:solidFill>
              </a:defRPr>
            </a:lvl3pPr>
            <a:lvl4pPr>
              <a:defRPr sz="1275" b="0">
                <a:solidFill>
                  <a:srgbClr val="586861"/>
                </a:solidFill>
              </a:defRPr>
            </a:lvl4pPr>
            <a:lvl5pPr>
              <a:defRPr sz="1275" b="0">
                <a:solidFill>
                  <a:srgbClr val="586861"/>
                </a:solidFill>
              </a:defRPr>
            </a:lvl5pPr>
            <a:lvl6pPr>
              <a:defRPr sz="1275" b="0">
                <a:solidFill>
                  <a:srgbClr val="586861"/>
                </a:solidFill>
              </a:defRPr>
            </a:lvl6pPr>
            <a:lvl7pPr>
              <a:defRPr sz="1275" b="0">
                <a:solidFill>
                  <a:srgbClr val="586861"/>
                </a:solidFill>
              </a:defRPr>
            </a:lvl7pPr>
            <a:lvl8pPr>
              <a:defRPr sz="1275" b="0">
                <a:solidFill>
                  <a:srgbClr val="586861"/>
                </a:solidFill>
              </a:defRPr>
            </a:lvl8pPr>
            <a:lvl9pPr>
              <a:defRPr sz="1275" b="0">
                <a:solidFill>
                  <a:srgbClr val="586861"/>
                </a:solidFill>
              </a:defRPr>
            </a:lvl9pPr>
          </a:lstStyle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最终版本服务于首批实验候选池，不服务于精确产量或条件优化</a:t>
            </a:r>
            <a:endParaRPr sz="1275" b="0">
              <a:solidFill>
                <a:srgbClr val="586861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762000" y="1562100"/>
            <a:ext cx="8096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09650" y="168592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0D665C"/>
                </a:solidFill>
              </a:defRPr>
            </a:defPPr>
            <a:lvl1pPr>
              <a:defRPr sz="1275" b="1">
                <a:solidFill>
                  <a:srgbClr val="0D665C"/>
                </a:solidFill>
              </a:defRPr>
            </a:lvl1pPr>
            <a:lvl2pPr>
              <a:defRPr sz="1275" b="1">
                <a:solidFill>
                  <a:srgbClr val="0D665C"/>
                </a:solidFill>
              </a:defRPr>
            </a:lvl2pPr>
            <a:lvl3pPr>
              <a:defRPr sz="1275" b="1">
                <a:solidFill>
                  <a:srgbClr val="0D665C"/>
                </a:solidFill>
              </a:defRPr>
            </a:lvl3pPr>
            <a:lvl4pPr>
              <a:defRPr sz="1275" b="1">
                <a:solidFill>
                  <a:srgbClr val="0D665C"/>
                </a:solidFill>
              </a:defRPr>
            </a:lvl4pPr>
            <a:lvl5pPr>
              <a:defRPr sz="1275" b="1">
                <a:solidFill>
                  <a:srgbClr val="0D665C"/>
                </a:solidFill>
              </a:defRPr>
            </a:lvl5pPr>
            <a:lvl6pPr>
              <a:defRPr sz="1275" b="1">
                <a:solidFill>
                  <a:srgbClr val="0D665C"/>
                </a:solidFill>
              </a:defRPr>
            </a:lvl6pPr>
            <a:lvl7pPr>
              <a:defRPr sz="1275" b="1">
                <a:solidFill>
                  <a:srgbClr val="0D665C"/>
                </a:solidFill>
              </a:defRPr>
            </a:lvl7pPr>
            <a:lvl8pPr>
              <a:defRPr sz="1275" b="1">
                <a:solidFill>
                  <a:srgbClr val="0D665C"/>
                </a:solidFill>
              </a:defRPr>
            </a:lvl8pPr>
            <a:lvl9pPr>
              <a:defRPr sz="1275" b="1">
                <a:solidFill>
                  <a:srgbClr val="0D665C"/>
                </a:solidFill>
              </a:defRPr>
            </a:lvl9pPr>
          </a:lstStyle>
          <a:p>
            <a:pPr>
              <a:defRPr sz="1275" b="1">
                <a:solidFill>
                  <a:srgbClr val="0D665C"/>
                </a:solidFill>
              </a:defRPr>
            </a:pPr>
            <a:r>
              <a:rPr sz="1275" b="1">
                <a:solidFill>
                  <a:srgbClr val="0D665C"/>
                </a:solidFill>
              </a:rPr>
              <a:t>最终版本</a:t>
            </a:r>
            <a:endParaRPr sz="1275" b="1">
              <a:solidFill>
                <a:srgbClr val="0D665C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781300" y="1685925"/>
            <a:ext cx="581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0201E"/>
                </a:solidFill>
              </a:defRPr>
            </a:defPPr>
            <a:lvl1pPr>
              <a:defRPr sz="1200" b="0">
                <a:solidFill>
                  <a:srgbClr val="10201E"/>
                </a:solidFill>
              </a:defRPr>
            </a:lvl1pPr>
            <a:lvl2pPr>
              <a:defRPr sz="1200" b="0">
                <a:solidFill>
                  <a:srgbClr val="10201E"/>
                </a:solidFill>
              </a:defRPr>
            </a:lvl2pPr>
            <a:lvl3pPr>
              <a:defRPr sz="1200" b="0">
                <a:solidFill>
                  <a:srgbClr val="10201E"/>
                </a:solidFill>
              </a:defRPr>
            </a:lvl3pPr>
            <a:lvl4pPr>
              <a:defRPr sz="1200" b="0">
                <a:solidFill>
                  <a:srgbClr val="10201E"/>
                </a:solidFill>
              </a:defRPr>
            </a:lvl4pPr>
            <a:lvl5pPr>
              <a:defRPr sz="1200" b="0">
                <a:solidFill>
                  <a:srgbClr val="10201E"/>
                </a:solidFill>
              </a:defRPr>
            </a:lvl5pPr>
            <a:lvl6pPr>
              <a:defRPr sz="1200" b="0">
                <a:solidFill>
                  <a:srgbClr val="10201E"/>
                </a:solidFill>
              </a:defRPr>
            </a:lvl6pPr>
            <a:lvl7pPr>
              <a:defRPr sz="1200" b="0">
                <a:solidFill>
                  <a:srgbClr val="10201E"/>
                </a:solidFill>
              </a:defRPr>
            </a:lvl7pPr>
            <a:lvl8pPr>
              <a:defRPr sz="1200" b="0">
                <a:solidFill>
                  <a:srgbClr val="10201E"/>
                </a:solidFill>
              </a:defRPr>
            </a:lvl8pPr>
            <a:lvl9pPr>
              <a:defRPr sz="1200" b="0">
                <a:solidFill>
                  <a:srgbClr val="10201E"/>
                </a:solidFill>
              </a:defRPr>
            </a:lvl9pPr>
          </a:lstStyle>
          <a:p>
            <a:pPr>
              <a:defRPr sz="1200" b="0">
                <a:solidFill>
                  <a:srgbClr val="10201E"/>
                </a:solidFill>
              </a:defRPr>
            </a:pPr>
            <a:r>
              <a:rPr sz="1200" b="0">
                <a:solidFill>
                  <a:srgbClr val="10201E"/>
                </a:solidFill>
              </a:rPr>
              <a:t>Bagged Ridge：k = 5，20 次 bootstrap，A+B 序列特征</a:t>
            </a:r>
            <a:endParaRPr sz="1200" b="0">
              <a:solidFill>
                <a:srgbClr val="10201E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62000" y="2324100"/>
            <a:ext cx="8096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09650" y="244792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0D665C"/>
                </a:solidFill>
              </a:defRPr>
            </a:defPPr>
            <a:lvl1pPr>
              <a:defRPr sz="1275" b="1">
                <a:solidFill>
                  <a:srgbClr val="0D665C"/>
                </a:solidFill>
              </a:defRPr>
            </a:lvl1pPr>
            <a:lvl2pPr>
              <a:defRPr sz="1275" b="1">
                <a:solidFill>
                  <a:srgbClr val="0D665C"/>
                </a:solidFill>
              </a:defRPr>
            </a:lvl2pPr>
            <a:lvl3pPr>
              <a:defRPr sz="1275" b="1">
                <a:solidFill>
                  <a:srgbClr val="0D665C"/>
                </a:solidFill>
              </a:defRPr>
            </a:lvl3pPr>
            <a:lvl4pPr>
              <a:defRPr sz="1275" b="1">
                <a:solidFill>
                  <a:srgbClr val="0D665C"/>
                </a:solidFill>
              </a:defRPr>
            </a:lvl4pPr>
            <a:lvl5pPr>
              <a:defRPr sz="1275" b="1">
                <a:solidFill>
                  <a:srgbClr val="0D665C"/>
                </a:solidFill>
              </a:defRPr>
            </a:lvl5pPr>
            <a:lvl6pPr>
              <a:defRPr sz="1275" b="1">
                <a:solidFill>
                  <a:srgbClr val="0D665C"/>
                </a:solidFill>
              </a:defRPr>
            </a:lvl6pPr>
            <a:lvl7pPr>
              <a:defRPr sz="1275" b="1">
                <a:solidFill>
                  <a:srgbClr val="0D665C"/>
                </a:solidFill>
              </a:defRPr>
            </a:lvl7pPr>
            <a:lvl8pPr>
              <a:defRPr sz="1275" b="1">
                <a:solidFill>
                  <a:srgbClr val="0D665C"/>
                </a:solidFill>
              </a:defRPr>
            </a:lvl8pPr>
            <a:lvl9pPr>
              <a:defRPr sz="1275" b="1">
                <a:solidFill>
                  <a:srgbClr val="0D665C"/>
                </a:solidFill>
              </a:defRPr>
            </a:lvl9pPr>
          </a:lstStyle>
          <a:p>
            <a:pPr>
              <a:defRPr sz="1275" b="1">
                <a:solidFill>
                  <a:srgbClr val="0D665C"/>
                </a:solidFill>
              </a:defRPr>
            </a:pPr>
            <a:r>
              <a:rPr sz="1275" b="1">
                <a:solidFill>
                  <a:srgbClr val="0D665C"/>
                </a:solidFill>
              </a:rPr>
              <a:t>可以支持</a:t>
            </a:r>
            <a:endParaRPr sz="1275" b="1">
              <a:solidFill>
                <a:srgbClr val="0D665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781300" y="2447925"/>
            <a:ext cx="581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0201E"/>
                </a:solidFill>
              </a:defRPr>
            </a:defPPr>
            <a:lvl1pPr>
              <a:defRPr sz="1200" b="0">
                <a:solidFill>
                  <a:srgbClr val="10201E"/>
                </a:solidFill>
              </a:defRPr>
            </a:lvl1pPr>
            <a:lvl2pPr>
              <a:defRPr sz="1200" b="0">
                <a:solidFill>
                  <a:srgbClr val="10201E"/>
                </a:solidFill>
              </a:defRPr>
            </a:lvl2pPr>
            <a:lvl3pPr>
              <a:defRPr sz="1200" b="0">
                <a:solidFill>
                  <a:srgbClr val="10201E"/>
                </a:solidFill>
              </a:defRPr>
            </a:lvl3pPr>
            <a:lvl4pPr>
              <a:defRPr sz="1200" b="0">
                <a:solidFill>
                  <a:srgbClr val="10201E"/>
                </a:solidFill>
              </a:defRPr>
            </a:lvl4pPr>
            <a:lvl5pPr>
              <a:defRPr sz="1200" b="0">
                <a:solidFill>
                  <a:srgbClr val="10201E"/>
                </a:solidFill>
              </a:defRPr>
            </a:lvl5pPr>
            <a:lvl6pPr>
              <a:defRPr sz="1200" b="0">
                <a:solidFill>
                  <a:srgbClr val="10201E"/>
                </a:solidFill>
              </a:defRPr>
            </a:lvl6pPr>
            <a:lvl7pPr>
              <a:defRPr sz="1200" b="0">
                <a:solidFill>
                  <a:srgbClr val="10201E"/>
                </a:solidFill>
              </a:defRPr>
            </a:lvl7pPr>
            <a:lvl8pPr>
              <a:defRPr sz="1200" b="0">
                <a:solidFill>
                  <a:srgbClr val="10201E"/>
                </a:solidFill>
              </a:defRPr>
            </a:lvl8pPr>
            <a:lvl9pPr>
              <a:defRPr sz="1200" b="0">
                <a:solidFill>
                  <a:srgbClr val="10201E"/>
                </a:solidFill>
              </a:defRPr>
            </a:lvl9pPr>
          </a:lstStyle>
          <a:p>
            <a:pPr>
              <a:defRPr sz="1200" b="0">
                <a:solidFill>
                  <a:srgbClr val="10201E"/>
                </a:solidFill>
              </a:defRPr>
            </a:pPr>
            <a:r>
              <a:rPr sz="1200" b="0">
                <a:solidFill>
                  <a:srgbClr val="10201E"/>
                </a:solidFill>
              </a:rPr>
              <a:t>多个构建体的相对排序；用户选择前 n 个进入首批实验</a:t>
            </a:r>
            <a:endParaRPr sz="1200" b="0">
              <a:solidFill>
                <a:srgbClr val="10201E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62000" y="3086100"/>
            <a:ext cx="8096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09650" y="320992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C85D3C"/>
                </a:solidFill>
              </a:defRPr>
            </a:defPPr>
            <a:lvl1pPr>
              <a:defRPr sz="1275" b="1">
                <a:solidFill>
                  <a:srgbClr val="C85D3C"/>
                </a:solidFill>
              </a:defRPr>
            </a:lvl1pPr>
            <a:lvl2pPr>
              <a:defRPr sz="1275" b="1">
                <a:solidFill>
                  <a:srgbClr val="C85D3C"/>
                </a:solidFill>
              </a:defRPr>
            </a:lvl2pPr>
            <a:lvl3pPr>
              <a:defRPr sz="1275" b="1">
                <a:solidFill>
                  <a:srgbClr val="C85D3C"/>
                </a:solidFill>
              </a:defRPr>
            </a:lvl3pPr>
            <a:lvl4pPr>
              <a:defRPr sz="1275" b="1">
                <a:solidFill>
                  <a:srgbClr val="C85D3C"/>
                </a:solidFill>
              </a:defRPr>
            </a:lvl4pPr>
            <a:lvl5pPr>
              <a:defRPr sz="1275" b="1">
                <a:solidFill>
                  <a:srgbClr val="C85D3C"/>
                </a:solidFill>
              </a:defRPr>
            </a:lvl5pPr>
            <a:lvl6pPr>
              <a:defRPr sz="1275" b="1">
                <a:solidFill>
                  <a:srgbClr val="C85D3C"/>
                </a:solidFill>
              </a:defRPr>
            </a:lvl6pPr>
            <a:lvl7pPr>
              <a:defRPr sz="1275" b="1">
                <a:solidFill>
                  <a:srgbClr val="C85D3C"/>
                </a:solidFill>
              </a:defRPr>
            </a:lvl7pPr>
            <a:lvl8pPr>
              <a:defRPr sz="1275" b="1">
                <a:solidFill>
                  <a:srgbClr val="C85D3C"/>
                </a:solidFill>
              </a:defRPr>
            </a:lvl8pPr>
            <a:lvl9pPr>
              <a:defRPr sz="1275" b="1">
                <a:solidFill>
                  <a:srgbClr val="C85D3C"/>
                </a:solidFill>
              </a:defRPr>
            </a:lvl9pPr>
          </a:lstStyle>
          <a:p>
            <a:pPr>
              <a:defRPr sz="1275" b="1">
                <a:solidFill>
                  <a:srgbClr val="C85D3C"/>
                </a:solidFill>
              </a:defRPr>
            </a:pPr>
            <a:r>
              <a:rPr sz="1275" b="1">
                <a:solidFill>
                  <a:srgbClr val="C85D3C"/>
                </a:solidFill>
              </a:rPr>
              <a:t>不能支持</a:t>
            </a:r>
            <a:endParaRPr sz="1275" b="1">
              <a:solidFill>
                <a:srgbClr val="C85D3C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781300" y="3209925"/>
            <a:ext cx="581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0201E"/>
                </a:solidFill>
              </a:defRPr>
            </a:defPPr>
            <a:lvl1pPr>
              <a:defRPr sz="1200" b="0">
                <a:solidFill>
                  <a:srgbClr val="10201E"/>
                </a:solidFill>
              </a:defRPr>
            </a:lvl1pPr>
            <a:lvl2pPr>
              <a:defRPr sz="1200" b="0">
                <a:solidFill>
                  <a:srgbClr val="10201E"/>
                </a:solidFill>
              </a:defRPr>
            </a:lvl2pPr>
            <a:lvl3pPr>
              <a:defRPr sz="1200" b="0">
                <a:solidFill>
                  <a:srgbClr val="10201E"/>
                </a:solidFill>
              </a:defRPr>
            </a:lvl3pPr>
            <a:lvl4pPr>
              <a:defRPr sz="1200" b="0">
                <a:solidFill>
                  <a:srgbClr val="10201E"/>
                </a:solidFill>
              </a:defRPr>
            </a:lvl4pPr>
            <a:lvl5pPr>
              <a:defRPr sz="1200" b="0">
                <a:solidFill>
                  <a:srgbClr val="10201E"/>
                </a:solidFill>
              </a:defRPr>
            </a:lvl5pPr>
            <a:lvl6pPr>
              <a:defRPr sz="1200" b="0">
                <a:solidFill>
                  <a:srgbClr val="10201E"/>
                </a:solidFill>
              </a:defRPr>
            </a:lvl6pPr>
            <a:lvl7pPr>
              <a:defRPr sz="1200" b="0">
                <a:solidFill>
                  <a:srgbClr val="10201E"/>
                </a:solidFill>
              </a:defRPr>
            </a:lvl7pPr>
            <a:lvl8pPr>
              <a:defRPr sz="1200" b="0">
                <a:solidFill>
                  <a:srgbClr val="10201E"/>
                </a:solidFill>
              </a:defRPr>
            </a:lvl8pPr>
            <a:lvl9pPr>
              <a:defRPr sz="1200" b="0">
                <a:solidFill>
                  <a:srgbClr val="10201E"/>
                </a:solidFill>
              </a:defRPr>
            </a:lvl9pPr>
          </a:lstStyle>
          <a:p>
            <a:pPr>
              <a:defRPr sz="1200" b="0">
                <a:solidFill>
                  <a:srgbClr val="10201E"/>
                </a:solidFill>
              </a:defRPr>
            </a:pPr>
            <a:r>
              <a:rPr sz="1200" b="0">
                <a:solidFill>
                  <a:srgbClr val="10201E"/>
                </a:solidFill>
              </a:rPr>
              <a:t>保证具体产量；推荐具体温度、IPTG、时间</a:t>
            </a:r>
            <a:endParaRPr sz="1200" b="0">
              <a:solidFill>
                <a:srgbClr val="10201E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62000" y="3848100"/>
            <a:ext cx="8096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6E2D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09650" y="397192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0D665C"/>
                </a:solidFill>
              </a:defRPr>
            </a:defPPr>
            <a:lvl1pPr>
              <a:defRPr sz="1275" b="1">
                <a:solidFill>
                  <a:srgbClr val="0D665C"/>
                </a:solidFill>
              </a:defRPr>
            </a:lvl1pPr>
            <a:lvl2pPr>
              <a:defRPr sz="1275" b="1">
                <a:solidFill>
                  <a:srgbClr val="0D665C"/>
                </a:solidFill>
              </a:defRPr>
            </a:lvl2pPr>
            <a:lvl3pPr>
              <a:defRPr sz="1275" b="1">
                <a:solidFill>
                  <a:srgbClr val="0D665C"/>
                </a:solidFill>
              </a:defRPr>
            </a:lvl3pPr>
            <a:lvl4pPr>
              <a:defRPr sz="1275" b="1">
                <a:solidFill>
                  <a:srgbClr val="0D665C"/>
                </a:solidFill>
              </a:defRPr>
            </a:lvl4pPr>
            <a:lvl5pPr>
              <a:defRPr sz="1275" b="1">
                <a:solidFill>
                  <a:srgbClr val="0D665C"/>
                </a:solidFill>
              </a:defRPr>
            </a:lvl5pPr>
            <a:lvl6pPr>
              <a:defRPr sz="1275" b="1">
                <a:solidFill>
                  <a:srgbClr val="0D665C"/>
                </a:solidFill>
              </a:defRPr>
            </a:lvl6pPr>
            <a:lvl7pPr>
              <a:defRPr sz="1275" b="1">
                <a:solidFill>
                  <a:srgbClr val="0D665C"/>
                </a:solidFill>
              </a:defRPr>
            </a:lvl7pPr>
            <a:lvl8pPr>
              <a:defRPr sz="1275" b="1">
                <a:solidFill>
                  <a:srgbClr val="0D665C"/>
                </a:solidFill>
              </a:defRPr>
            </a:lvl8pPr>
            <a:lvl9pPr>
              <a:defRPr sz="1275" b="1">
                <a:solidFill>
                  <a:srgbClr val="0D665C"/>
                </a:solidFill>
              </a:defRPr>
            </a:lvl9pPr>
          </a:lstStyle>
          <a:p>
            <a:pPr>
              <a:defRPr sz="1275" b="1">
                <a:solidFill>
                  <a:srgbClr val="0D665C"/>
                </a:solidFill>
              </a:defRPr>
            </a:pPr>
            <a:r>
              <a:rPr sz="1275" b="1">
                <a:solidFill>
                  <a:srgbClr val="0D665C"/>
                </a:solidFill>
              </a:rPr>
              <a:t>网页规则</a:t>
            </a:r>
            <a:endParaRPr sz="1275" b="1">
              <a:solidFill>
                <a:srgbClr val="0D665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781300" y="3971925"/>
            <a:ext cx="581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10201E"/>
                </a:solidFill>
              </a:defRPr>
            </a:defPPr>
            <a:lvl1pPr>
              <a:defRPr sz="1200" b="0">
                <a:solidFill>
                  <a:srgbClr val="10201E"/>
                </a:solidFill>
              </a:defRPr>
            </a:lvl1pPr>
            <a:lvl2pPr>
              <a:defRPr sz="1200" b="0">
                <a:solidFill>
                  <a:srgbClr val="10201E"/>
                </a:solidFill>
              </a:defRPr>
            </a:lvl2pPr>
            <a:lvl3pPr>
              <a:defRPr sz="1200" b="0">
                <a:solidFill>
                  <a:srgbClr val="10201E"/>
                </a:solidFill>
              </a:defRPr>
            </a:lvl3pPr>
            <a:lvl4pPr>
              <a:defRPr sz="1200" b="0">
                <a:solidFill>
                  <a:srgbClr val="10201E"/>
                </a:solidFill>
              </a:defRPr>
            </a:lvl4pPr>
            <a:lvl5pPr>
              <a:defRPr sz="1200" b="0">
                <a:solidFill>
                  <a:srgbClr val="10201E"/>
                </a:solidFill>
              </a:defRPr>
            </a:lvl5pPr>
            <a:lvl6pPr>
              <a:defRPr sz="1200" b="0">
                <a:solidFill>
                  <a:srgbClr val="10201E"/>
                </a:solidFill>
              </a:defRPr>
            </a:lvl6pPr>
            <a:lvl7pPr>
              <a:defRPr sz="1200" b="0">
                <a:solidFill>
                  <a:srgbClr val="10201E"/>
                </a:solidFill>
              </a:defRPr>
            </a:lvl7pPr>
            <a:lvl8pPr>
              <a:defRPr sz="1200" b="0">
                <a:solidFill>
                  <a:srgbClr val="10201E"/>
                </a:solidFill>
              </a:defRPr>
            </a:lvl8pPr>
            <a:lvl9pPr>
              <a:defRPr sz="1200" b="0">
                <a:solidFill>
                  <a:srgbClr val="10201E"/>
                </a:solidFill>
              </a:defRPr>
            </a:lvl9pPr>
          </a:lstStyle>
          <a:p>
            <a:pPr>
              <a:defRPr sz="1200" b="0">
                <a:solidFill>
                  <a:srgbClr val="10201E"/>
                </a:solidFill>
              </a:defRPr>
            </a:pPr>
            <a:r>
              <a:rPr sz="1200" b="0">
                <a:solidFill>
                  <a:srgbClr val="10201E"/>
                </a:solidFill>
              </a:rPr>
              <a:t>异常残基、过短序列、未知信号肽会提示或不排序</a:t>
            </a:r>
            <a:endParaRPr sz="1200" b="0">
              <a:solidFill>
                <a:srgbClr val="10201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9315450" y="1762125"/>
            <a:ext cx="1809750" cy="2457450"/>
          </a:xfrm>
          <a:prstGeom prst="roundRect">
            <a:avLst>
              <a:gd name="adj" fmla="val 4211"/>
            </a:avLst>
          </a:prstGeom>
          <a:solidFill>
            <a:srgbClr val="113D37"/>
          </a:solidFill>
          <a:ln w="9525">
            <a:solidFill>
              <a:srgbClr val="113D3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601200" y="2419350"/>
            <a:ext cx="1524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Demo</a:t>
            </a:r>
            <a:r>
              <a:rPr lang="zh-CN" sz="1650" b="1">
                <a:solidFill>
                  <a:srgbClr val="FFFFFF"/>
                </a:solidFill>
                <a:ea typeface="宋体" charset="0"/>
              </a:rPr>
              <a:t>：</a:t>
            </a:r>
            <a:endParaRPr sz="1650" b="1">
              <a:solidFill>
                <a:srgbClr val="FFFFFF"/>
              </a:solidFill>
            </a:endParaRPr>
          </a:p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输入候选</a:t>
            </a:r>
            <a:endParaRPr sz="1650" b="1">
              <a:solidFill>
                <a:srgbClr val="FFFFFF"/>
              </a:solidFill>
            </a:endParaRPr>
          </a:p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排序</a:t>
            </a:r>
            <a:endParaRPr sz="1650" b="1">
              <a:solidFill>
                <a:srgbClr val="FFFFFF"/>
              </a:solidFill>
            </a:endParaRPr>
          </a:p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选择首批n个</a:t>
            </a:r>
            <a:endParaRPr sz="16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6477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10201E"/>
                </a:solidFill>
              </a:defRPr>
            </a:defPPr>
            <a:lvl1pPr>
              <a:defRPr sz="2850" b="1">
                <a:solidFill>
                  <a:srgbClr val="10201E"/>
                </a:solidFill>
              </a:defRPr>
            </a:lvl1pPr>
            <a:lvl2pPr>
              <a:defRPr sz="2850" b="1">
                <a:solidFill>
                  <a:srgbClr val="10201E"/>
                </a:solidFill>
              </a:defRPr>
            </a:lvl2pPr>
            <a:lvl3pPr>
              <a:defRPr sz="2850" b="1">
                <a:solidFill>
                  <a:srgbClr val="10201E"/>
                </a:solidFill>
              </a:defRPr>
            </a:lvl3pPr>
            <a:lvl4pPr>
              <a:defRPr sz="2850" b="1">
                <a:solidFill>
                  <a:srgbClr val="10201E"/>
                </a:solidFill>
              </a:defRPr>
            </a:lvl4pPr>
            <a:lvl5pPr>
              <a:defRPr sz="2850" b="1">
                <a:solidFill>
                  <a:srgbClr val="10201E"/>
                </a:solidFill>
              </a:defRPr>
            </a:lvl5pPr>
            <a:lvl6pPr>
              <a:defRPr sz="2850" b="1">
                <a:solidFill>
                  <a:srgbClr val="10201E"/>
                </a:solidFill>
              </a:defRPr>
            </a:lvl6pPr>
            <a:lvl7pPr>
              <a:defRPr sz="2850" b="1">
                <a:solidFill>
                  <a:srgbClr val="10201E"/>
                </a:solidFill>
              </a:defRPr>
            </a:lvl7pPr>
            <a:lvl8pPr>
              <a:defRPr sz="2850" b="1">
                <a:solidFill>
                  <a:srgbClr val="10201E"/>
                </a:solidFill>
              </a:defRPr>
            </a:lvl8pPr>
            <a:lvl9pPr>
              <a:defRPr sz="2850" b="1">
                <a:solidFill>
                  <a:srgbClr val="10201E"/>
                </a:solidFill>
              </a:defRPr>
            </a:lvl9pPr>
          </a:lstStyle>
          <a:p>
            <a:pPr>
              <a:defRPr sz="2850" b="1">
                <a:solidFill>
                  <a:srgbClr val="10201E"/>
                </a:solidFill>
              </a:defRPr>
            </a:pPr>
            <a:r>
              <a:rPr sz="2850" b="1">
                <a:solidFill>
                  <a:srgbClr val="10201E"/>
                </a:solidFill>
              </a:rPr>
              <a:t>AI 的</a:t>
            </a:r>
            <a:r>
              <a:rPr lang="zh-CN" sz="2850" b="1">
                <a:solidFill>
                  <a:srgbClr val="10201E"/>
                </a:solidFill>
              </a:rPr>
              <a:t>主要</a:t>
            </a:r>
            <a:r>
              <a:rPr sz="2850" b="1">
                <a:solidFill>
                  <a:srgbClr val="10201E"/>
                </a:solidFill>
              </a:rPr>
              <a:t>辅助范围</a:t>
            </a:r>
            <a:endParaRPr sz="2850" b="1">
              <a:solidFill>
                <a:srgbClr val="10201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620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86861"/>
                </a:solidFill>
              </a:defRPr>
            </a:defPPr>
            <a:lvl1pPr>
              <a:defRPr sz="1275" b="0">
                <a:solidFill>
                  <a:srgbClr val="586861"/>
                </a:solidFill>
              </a:defRPr>
            </a:lvl1pPr>
            <a:lvl2pPr>
              <a:defRPr sz="1275" b="0">
                <a:solidFill>
                  <a:srgbClr val="586861"/>
                </a:solidFill>
              </a:defRPr>
            </a:lvl2pPr>
            <a:lvl3pPr>
              <a:defRPr sz="1275" b="0">
                <a:solidFill>
                  <a:srgbClr val="586861"/>
                </a:solidFill>
              </a:defRPr>
            </a:lvl3pPr>
            <a:lvl4pPr>
              <a:defRPr sz="1275" b="0">
                <a:solidFill>
                  <a:srgbClr val="586861"/>
                </a:solidFill>
              </a:defRPr>
            </a:lvl4pPr>
            <a:lvl5pPr>
              <a:defRPr sz="1275" b="0">
                <a:solidFill>
                  <a:srgbClr val="586861"/>
                </a:solidFill>
              </a:defRPr>
            </a:lvl5pPr>
            <a:lvl6pPr>
              <a:defRPr sz="1275" b="0">
                <a:solidFill>
                  <a:srgbClr val="586861"/>
                </a:solidFill>
              </a:defRPr>
            </a:lvl6pPr>
            <a:lvl7pPr>
              <a:defRPr sz="1275" b="0">
                <a:solidFill>
                  <a:srgbClr val="586861"/>
                </a:solidFill>
              </a:defRPr>
            </a:lvl7pPr>
            <a:lvl8pPr>
              <a:defRPr sz="1275" b="0">
                <a:solidFill>
                  <a:srgbClr val="586861"/>
                </a:solidFill>
              </a:defRPr>
            </a:lvl8pPr>
            <a:lvl9pPr>
              <a:defRPr sz="1275" b="0">
                <a:solidFill>
                  <a:srgbClr val="586861"/>
                </a:solidFill>
              </a:defRPr>
            </a:lvl9pPr>
          </a:lstStyle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AI 加速工程实现与分析探索；问题定义、数据核验与最终取舍由我负责</a:t>
            </a:r>
            <a:endParaRPr sz="1275" b="0">
              <a:solidFill>
                <a:srgbClr val="5868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5049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0D665C"/>
                </a:solidFill>
              </a:defRPr>
            </a:defPPr>
            <a:lvl1pPr>
              <a:defRPr sz="1275" b="1">
                <a:solidFill>
                  <a:srgbClr val="0D665C"/>
                </a:solidFill>
              </a:defRPr>
            </a:lvl1pPr>
            <a:lvl2pPr>
              <a:defRPr sz="1275" b="1">
                <a:solidFill>
                  <a:srgbClr val="0D665C"/>
                </a:solidFill>
              </a:defRPr>
            </a:lvl2pPr>
            <a:lvl3pPr>
              <a:defRPr sz="1275" b="1">
                <a:solidFill>
                  <a:srgbClr val="0D665C"/>
                </a:solidFill>
              </a:defRPr>
            </a:lvl3pPr>
            <a:lvl4pPr>
              <a:defRPr sz="1275" b="1">
                <a:solidFill>
                  <a:srgbClr val="0D665C"/>
                </a:solidFill>
              </a:defRPr>
            </a:lvl4pPr>
            <a:lvl5pPr>
              <a:defRPr sz="1275" b="1">
                <a:solidFill>
                  <a:srgbClr val="0D665C"/>
                </a:solidFill>
              </a:defRPr>
            </a:lvl5pPr>
            <a:lvl6pPr>
              <a:defRPr sz="1275" b="1">
                <a:solidFill>
                  <a:srgbClr val="0D665C"/>
                </a:solidFill>
              </a:defRPr>
            </a:lvl6pPr>
            <a:lvl7pPr>
              <a:defRPr sz="1275" b="1">
                <a:solidFill>
                  <a:srgbClr val="0D665C"/>
                </a:solidFill>
              </a:defRPr>
            </a:lvl7pPr>
            <a:lvl8pPr>
              <a:defRPr sz="1275" b="1">
                <a:solidFill>
                  <a:srgbClr val="0D665C"/>
                </a:solidFill>
              </a:defRPr>
            </a:lvl8pPr>
            <a:lvl9pPr>
              <a:defRPr sz="1275" b="1">
                <a:solidFill>
                  <a:srgbClr val="0D665C"/>
                </a:solidFill>
              </a:defRPr>
            </a:lvl9pPr>
          </a:lstStyle>
          <a:p>
            <a:pPr>
              <a:defRPr sz="1275" b="1">
                <a:solidFill>
                  <a:srgbClr val="0D665C"/>
                </a:solidFill>
              </a:defRPr>
            </a:pPr>
            <a:r>
              <a:rPr sz="1275" b="1">
                <a:solidFill>
                  <a:srgbClr val="0D665C"/>
                </a:solidFill>
              </a:rPr>
              <a:t>01</a:t>
            </a:r>
            <a:endParaRPr sz="1275" b="1">
              <a:solidFill>
                <a:srgbClr val="0D665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47800" y="1428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10201E"/>
                </a:solidFill>
              </a:defRPr>
            </a:defPPr>
            <a:lvl1pPr>
              <a:defRPr sz="1575" b="1">
                <a:solidFill>
                  <a:srgbClr val="10201E"/>
                </a:solidFill>
              </a:defRPr>
            </a:lvl1pPr>
            <a:lvl2pPr>
              <a:defRPr sz="1575" b="1">
                <a:solidFill>
                  <a:srgbClr val="10201E"/>
                </a:solidFill>
              </a:defRPr>
            </a:lvl2pPr>
            <a:lvl3pPr>
              <a:defRPr sz="1575" b="1">
                <a:solidFill>
                  <a:srgbClr val="10201E"/>
                </a:solidFill>
              </a:defRPr>
            </a:lvl3pPr>
            <a:lvl4pPr>
              <a:defRPr sz="1575" b="1">
                <a:solidFill>
                  <a:srgbClr val="10201E"/>
                </a:solidFill>
              </a:defRPr>
            </a:lvl4pPr>
            <a:lvl5pPr>
              <a:defRPr sz="1575" b="1">
                <a:solidFill>
                  <a:srgbClr val="10201E"/>
                </a:solidFill>
              </a:defRPr>
            </a:lvl5pPr>
            <a:lvl6pPr>
              <a:defRPr sz="1575" b="1">
                <a:solidFill>
                  <a:srgbClr val="10201E"/>
                </a:solidFill>
              </a:defRPr>
            </a:lvl6pPr>
            <a:lvl7pPr>
              <a:defRPr sz="1575" b="1">
                <a:solidFill>
                  <a:srgbClr val="10201E"/>
                </a:solidFill>
              </a:defRPr>
            </a:lvl7pPr>
            <a:lvl8pPr>
              <a:defRPr sz="1575" b="1">
                <a:solidFill>
                  <a:srgbClr val="10201E"/>
                </a:solidFill>
              </a:defRPr>
            </a:lvl8pPr>
            <a:lvl9pPr>
              <a:defRPr sz="1575" b="1">
                <a:solidFill>
                  <a:srgbClr val="10201E"/>
                </a:solidFill>
              </a:defRPr>
            </a:lvl9pPr>
          </a:lstStyle>
          <a:p>
            <a:pPr>
              <a:defRPr sz="1575" b="1">
                <a:solidFill>
                  <a:srgbClr val="10201E"/>
                </a:solidFill>
              </a:defRPr>
            </a:pPr>
            <a:r>
              <a:rPr sz="1575" b="1">
                <a:solidFill>
                  <a:srgbClr val="10201E"/>
                </a:solidFill>
              </a:rPr>
              <a:t>PDF 数据提取</a:t>
            </a:r>
            <a:endParaRPr sz="1575" b="1">
              <a:solidFill>
                <a:srgbClr val="10201E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638550" y="14287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0201E"/>
                </a:solidFill>
              </a:defRPr>
            </a:defPPr>
            <a:lvl1pPr>
              <a:defRPr sz="1275" b="0">
                <a:solidFill>
                  <a:srgbClr val="10201E"/>
                </a:solidFill>
              </a:defRPr>
            </a:lvl1pPr>
            <a:lvl2pPr>
              <a:defRPr sz="1275" b="0">
                <a:solidFill>
                  <a:srgbClr val="10201E"/>
                </a:solidFill>
              </a:defRPr>
            </a:lvl2pPr>
            <a:lvl3pPr>
              <a:defRPr sz="1275" b="0">
                <a:solidFill>
                  <a:srgbClr val="10201E"/>
                </a:solidFill>
              </a:defRPr>
            </a:lvl3pPr>
            <a:lvl4pPr>
              <a:defRPr sz="1275" b="0">
                <a:solidFill>
                  <a:srgbClr val="10201E"/>
                </a:solidFill>
              </a:defRPr>
            </a:lvl4pPr>
            <a:lvl5pPr>
              <a:defRPr sz="1275" b="0">
                <a:solidFill>
                  <a:srgbClr val="10201E"/>
                </a:solidFill>
              </a:defRPr>
            </a:lvl5pPr>
            <a:lvl6pPr>
              <a:defRPr sz="1275" b="0">
                <a:solidFill>
                  <a:srgbClr val="10201E"/>
                </a:solidFill>
              </a:defRPr>
            </a:lvl6pPr>
            <a:lvl7pPr>
              <a:defRPr sz="1275" b="0">
                <a:solidFill>
                  <a:srgbClr val="10201E"/>
                </a:solidFill>
              </a:defRPr>
            </a:lvl7pPr>
            <a:lvl8pPr>
              <a:defRPr sz="1275" b="0">
                <a:solidFill>
                  <a:srgbClr val="10201E"/>
                </a:solidFill>
              </a:defRPr>
            </a:lvl8pPr>
            <a:lvl9pPr>
              <a:defRPr sz="1275" b="0">
                <a:solidFill>
                  <a:srgbClr val="10201E"/>
                </a:solidFill>
              </a:defRPr>
            </a:lvl9pPr>
          </a:lstStyle>
          <a:p>
            <a:pPr>
              <a:defRPr sz="1275" b="0">
                <a:solidFill>
                  <a:srgbClr val="10201E"/>
                </a:solidFill>
              </a:defRPr>
            </a:pPr>
            <a:r>
              <a:rPr sz="1275" b="0">
                <a:solidFill>
                  <a:srgbClr val="10201E"/>
                </a:solidFill>
              </a:rPr>
              <a:t>协助编写并迭代 PDF 表格解析代码。</a:t>
            </a:r>
            <a:endParaRPr sz="1275" b="0">
              <a:solidFill>
                <a:srgbClr val="10201E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781050" y="2324100"/>
            <a:ext cx="10020300" cy="0"/>
          </a:xfrm>
          <a:prstGeom prst="line">
            <a:avLst/>
          </a:prstGeom>
          <a:ln w="9525">
            <a:solidFill>
              <a:srgbClr val="D6E2D9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24955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0D665C"/>
                </a:solidFill>
              </a:defRPr>
            </a:defPPr>
            <a:lvl1pPr>
              <a:defRPr sz="1275" b="1">
                <a:solidFill>
                  <a:srgbClr val="0D665C"/>
                </a:solidFill>
              </a:defRPr>
            </a:lvl1pPr>
            <a:lvl2pPr>
              <a:defRPr sz="1275" b="1">
                <a:solidFill>
                  <a:srgbClr val="0D665C"/>
                </a:solidFill>
              </a:defRPr>
            </a:lvl2pPr>
            <a:lvl3pPr>
              <a:defRPr sz="1275" b="1">
                <a:solidFill>
                  <a:srgbClr val="0D665C"/>
                </a:solidFill>
              </a:defRPr>
            </a:lvl3pPr>
            <a:lvl4pPr>
              <a:defRPr sz="1275" b="1">
                <a:solidFill>
                  <a:srgbClr val="0D665C"/>
                </a:solidFill>
              </a:defRPr>
            </a:lvl4pPr>
            <a:lvl5pPr>
              <a:defRPr sz="1275" b="1">
                <a:solidFill>
                  <a:srgbClr val="0D665C"/>
                </a:solidFill>
              </a:defRPr>
            </a:lvl5pPr>
            <a:lvl6pPr>
              <a:defRPr sz="1275" b="1">
                <a:solidFill>
                  <a:srgbClr val="0D665C"/>
                </a:solidFill>
              </a:defRPr>
            </a:lvl6pPr>
            <a:lvl7pPr>
              <a:defRPr sz="1275" b="1">
                <a:solidFill>
                  <a:srgbClr val="0D665C"/>
                </a:solidFill>
              </a:defRPr>
            </a:lvl7pPr>
            <a:lvl8pPr>
              <a:defRPr sz="1275" b="1">
                <a:solidFill>
                  <a:srgbClr val="0D665C"/>
                </a:solidFill>
              </a:defRPr>
            </a:lvl8pPr>
            <a:lvl9pPr>
              <a:defRPr sz="1275" b="1">
                <a:solidFill>
                  <a:srgbClr val="0D665C"/>
                </a:solidFill>
              </a:defRPr>
            </a:lvl9pPr>
          </a:lstStyle>
          <a:p>
            <a:pPr>
              <a:defRPr sz="1275" b="1">
                <a:solidFill>
                  <a:srgbClr val="0D665C"/>
                </a:solidFill>
              </a:defRPr>
            </a:pPr>
            <a:r>
              <a:rPr sz="1275" b="1">
                <a:solidFill>
                  <a:srgbClr val="0D665C"/>
                </a:solidFill>
              </a:rPr>
              <a:t>02</a:t>
            </a:r>
            <a:endParaRPr sz="1275" b="1">
              <a:solidFill>
                <a:srgbClr val="0D665C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447800" y="24193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10201E"/>
                </a:solidFill>
              </a:defRPr>
            </a:defPPr>
            <a:lvl1pPr>
              <a:defRPr sz="1575" b="1">
                <a:solidFill>
                  <a:srgbClr val="10201E"/>
                </a:solidFill>
              </a:defRPr>
            </a:lvl1pPr>
            <a:lvl2pPr>
              <a:defRPr sz="1575" b="1">
                <a:solidFill>
                  <a:srgbClr val="10201E"/>
                </a:solidFill>
              </a:defRPr>
            </a:lvl2pPr>
            <a:lvl3pPr>
              <a:defRPr sz="1575" b="1">
                <a:solidFill>
                  <a:srgbClr val="10201E"/>
                </a:solidFill>
              </a:defRPr>
            </a:lvl3pPr>
            <a:lvl4pPr>
              <a:defRPr sz="1575" b="1">
                <a:solidFill>
                  <a:srgbClr val="10201E"/>
                </a:solidFill>
              </a:defRPr>
            </a:lvl4pPr>
            <a:lvl5pPr>
              <a:defRPr sz="1575" b="1">
                <a:solidFill>
                  <a:srgbClr val="10201E"/>
                </a:solidFill>
              </a:defRPr>
            </a:lvl5pPr>
            <a:lvl6pPr>
              <a:defRPr sz="1575" b="1">
                <a:solidFill>
                  <a:srgbClr val="10201E"/>
                </a:solidFill>
              </a:defRPr>
            </a:lvl6pPr>
            <a:lvl7pPr>
              <a:defRPr sz="1575" b="1">
                <a:solidFill>
                  <a:srgbClr val="10201E"/>
                </a:solidFill>
              </a:defRPr>
            </a:lvl7pPr>
            <a:lvl8pPr>
              <a:defRPr sz="1575" b="1">
                <a:solidFill>
                  <a:srgbClr val="10201E"/>
                </a:solidFill>
              </a:defRPr>
            </a:lvl8pPr>
            <a:lvl9pPr>
              <a:defRPr sz="1575" b="1">
                <a:solidFill>
                  <a:srgbClr val="10201E"/>
                </a:solidFill>
              </a:defRPr>
            </a:lvl9pPr>
          </a:lstStyle>
          <a:p>
            <a:pPr>
              <a:defRPr sz="1575" b="1">
                <a:solidFill>
                  <a:srgbClr val="10201E"/>
                </a:solidFill>
              </a:defRPr>
            </a:pPr>
            <a:r>
              <a:rPr sz="1575" b="1">
                <a:solidFill>
                  <a:srgbClr val="10201E"/>
                </a:solidFill>
              </a:rPr>
              <a:t>特征工程</a:t>
            </a:r>
            <a:endParaRPr sz="1575" b="1">
              <a:solidFill>
                <a:srgbClr val="10201E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638550" y="24193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0201E"/>
                </a:solidFill>
              </a:defRPr>
            </a:defPPr>
            <a:lvl1pPr>
              <a:defRPr sz="1275" b="0">
                <a:solidFill>
                  <a:srgbClr val="10201E"/>
                </a:solidFill>
              </a:defRPr>
            </a:lvl1pPr>
            <a:lvl2pPr>
              <a:defRPr sz="1275" b="0">
                <a:solidFill>
                  <a:srgbClr val="10201E"/>
                </a:solidFill>
              </a:defRPr>
            </a:lvl2pPr>
            <a:lvl3pPr>
              <a:defRPr sz="1275" b="0">
                <a:solidFill>
                  <a:srgbClr val="10201E"/>
                </a:solidFill>
              </a:defRPr>
            </a:lvl3pPr>
            <a:lvl4pPr>
              <a:defRPr sz="1275" b="0">
                <a:solidFill>
                  <a:srgbClr val="10201E"/>
                </a:solidFill>
              </a:defRPr>
            </a:lvl4pPr>
            <a:lvl5pPr>
              <a:defRPr sz="1275" b="0">
                <a:solidFill>
                  <a:srgbClr val="10201E"/>
                </a:solidFill>
              </a:defRPr>
            </a:lvl5pPr>
            <a:lvl6pPr>
              <a:defRPr sz="1275" b="0">
                <a:solidFill>
                  <a:srgbClr val="10201E"/>
                </a:solidFill>
              </a:defRPr>
            </a:lvl6pPr>
            <a:lvl7pPr>
              <a:defRPr sz="1275" b="0">
                <a:solidFill>
                  <a:srgbClr val="10201E"/>
                </a:solidFill>
              </a:defRPr>
            </a:lvl7pPr>
            <a:lvl8pPr>
              <a:defRPr sz="1275" b="0">
                <a:solidFill>
                  <a:srgbClr val="10201E"/>
                </a:solidFill>
              </a:defRPr>
            </a:lvl8pPr>
            <a:lvl9pPr>
              <a:defRPr sz="1275" b="0">
                <a:solidFill>
                  <a:srgbClr val="10201E"/>
                </a:solidFill>
              </a:defRPr>
            </a:lvl9pPr>
          </a:lstStyle>
          <a:p>
            <a:pPr>
              <a:defRPr sz="1275" b="0">
                <a:solidFill>
                  <a:srgbClr val="10201E"/>
                </a:solidFill>
              </a:defRPr>
            </a:pPr>
            <a:r>
              <a:rPr sz="1275" b="0">
                <a:solidFill>
                  <a:srgbClr val="10201E"/>
                </a:solidFill>
              </a:rPr>
              <a:t>协助把论文中的序列特征转为可复现的 Python 函数。</a:t>
            </a:r>
            <a:endParaRPr sz="1275" b="0">
              <a:solidFill>
                <a:srgbClr val="10201E"/>
              </a:solidFill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781050" y="3314700"/>
            <a:ext cx="10020300" cy="0"/>
          </a:xfrm>
          <a:prstGeom prst="line">
            <a:avLst/>
          </a:prstGeom>
          <a:ln w="9525">
            <a:solidFill>
              <a:srgbClr val="D6E2D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34861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0D665C"/>
                </a:solidFill>
              </a:defRPr>
            </a:defPPr>
            <a:lvl1pPr>
              <a:defRPr sz="1275" b="1">
                <a:solidFill>
                  <a:srgbClr val="0D665C"/>
                </a:solidFill>
              </a:defRPr>
            </a:lvl1pPr>
            <a:lvl2pPr>
              <a:defRPr sz="1275" b="1">
                <a:solidFill>
                  <a:srgbClr val="0D665C"/>
                </a:solidFill>
              </a:defRPr>
            </a:lvl2pPr>
            <a:lvl3pPr>
              <a:defRPr sz="1275" b="1">
                <a:solidFill>
                  <a:srgbClr val="0D665C"/>
                </a:solidFill>
              </a:defRPr>
            </a:lvl3pPr>
            <a:lvl4pPr>
              <a:defRPr sz="1275" b="1">
                <a:solidFill>
                  <a:srgbClr val="0D665C"/>
                </a:solidFill>
              </a:defRPr>
            </a:lvl4pPr>
            <a:lvl5pPr>
              <a:defRPr sz="1275" b="1">
                <a:solidFill>
                  <a:srgbClr val="0D665C"/>
                </a:solidFill>
              </a:defRPr>
            </a:lvl5pPr>
            <a:lvl6pPr>
              <a:defRPr sz="1275" b="1">
                <a:solidFill>
                  <a:srgbClr val="0D665C"/>
                </a:solidFill>
              </a:defRPr>
            </a:lvl6pPr>
            <a:lvl7pPr>
              <a:defRPr sz="1275" b="1">
                <a:solidFill>
                  <a:srgbClr val="0D665C"/>
                </a:solidFill>
              </a:defRPr>
            </a:lvl7pPr>
            <a:lvl8pPr>
              <a:defRPr sz="1275" b="1">
                <a:solidFill>
                  <a:srgbClr val="0D665C"/>
                </a:solidFill>
              </a:defRPr>
            </a:lvl8pPr>
            <a:lvl9pPr>
              <a:defRPr sz="1275" b="1">
                <a:solidFill>
                  <a:srgbClr val="0D665C"/>
                </a:solidFill>
              </a:defRPr>
            </a:lvl9pPr>
          </a:lstStyle>
          <a:p>
            <a:pPr>
              <a:defRPr sz="1275" b="1">
                <a:solidFill>
                  <a:srgbClr val="0D665C"/>
                </a:solidFill>
              </a:defRPr>
            </a:pPr>
            <a:r>
              <a:rPr sz="1275" b="1">
                <a:solidFill>
                  <a:srgbClr val="0D665C"/>
                </a:solidFill>
              </a:rPr>
              <a:t>03</a:t>
            </a:r>
            <a:endParaRPr sz="1275" b="1">
              <a:solidFill>
                <a:srgbClr val="0D665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447800" y="34099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10201E"/>
                </a:solidFill>
              </a:defRPr>
            </a:defPPr>
            <a:lvl1pPr>
              <a:defRPr sz="1575" b="1">
                <a:solidFill>
                  <a:srgbClr val="10201E"/>
                </a:solidFill>
              </a:defRPr>
            </a:lvl1pPr>
            <a:lvl2pPr>
              <a:defRPr sz="1575" b="1">
                <a:solidFill>
                  <a:srgbClr val="10201E"/>
                </a:solidFill>
              </a:defRPr>
            </a:lvl2pPr>
            <a:lvl3pPr>
              <a:defRPr sz="1575" b="1">
                <a:solidFill>
                  <a:srgbClr val="10201E"/>
                </a:solidFill>
              </a:defRPr>
            </a:lvl3pPr>
            <a:lvl4pPr>
              <a:defRPr sz="1575" b="1">
                <a:solidFill>
                  <a:srgbClr val="10201E"/>
                </a:solidFill>
              </a:defRPr>
            </a:lvl4pPr>
            <a:lvl5pPr>
              <a:defRPr sz="1575" b="1">
                <a:solidFill>
                  <a:srgbClr val="10201E"/>
                </a:solidFill>
              </a:defRPr>
            </a:lvl5pPr>
            <a:lvl6pPr>
              <a:defRPr sz="1575" b="1">
                <a:solidFill>
                  <a:srgbClr val="10201E"/>
                </a:solidFill>
              </a:defRPr>
            </a:lvl6pPr>
            <a:lvl7pPr>
              <a:defRPr sz="1575" b="1">
                <a:solidFill>
                  <a:srgbClr val="10201E"/>
                </a:solidFill>
              </a:defRPr>
            </a:lvl7pPr>
            <a:lvl8pPr>
              <a:defRPr sz="1575" b="1">
                <a:solidFill>
                  <a:srgbClr val="10201E"/>
                </a:solidFill>
              </a:defRPr>
            </a:lvl8pPr>
            <a:lvl9pPr>
              <a:defRPr sz="1575" b="1">
                <a:solidFill>
                  <a:srgbClr val="10201E"/>
                </a:solidFill>
              </a:defRPr>
            </a:lvl9pPr>
          </a:lstStyle>
          <a:p>
            <a:pPr>
              <a:defRPr sz="1575" b="1">
                <a:solidFill>
                  <a:srgbClr val="10201E"/>
                </a:solidFill>
              </a:defRPr>
            </a:pPr>
            <a:r>
              <a:rPr sz="1575" b="1">
                <a:solidFill>
                  <a:srgbClr val="10201E"/>
                </a:solidFill>
              </a:rPr>
              <a:t>模型对比实现</a:t>
            </a:r>
            <a:endParaRPr sz="1575" b="1">
              <a:solidFill>
                <a:srgbClr val="10201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638550" y="34099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0201E"/>
                </a:solidFill>
              </a:defRPr>
            </a:defPPr>
            <a:lvl1pPr>
              <a:defRPr sz="1275" b="0">
                <a:solidFill>
                  <a:srgbClr val="10201E"/>
                </a:solidFill>
              </a:defRPr>
            </a:lvl1pPr>
            <a:lvl2pPr>
              <a:defRPr sz="1275" b="0">
                <a:solidFill>
                  <a:srgbClr val="10201E"/>
                </a:solidFill>
              </a:defRPr>
            </a:lvl2pPr>
            <a:lvl3pPr>
              <a:defRPr sz="1275" b="0">
                <a:solidFill>
                  <a:srgbClr val="10201E"/>
                </a:solidFill>
              </a:defRPr>
            </a:lvl3pPr>
            <a:lvl4pPr>
              <a:defRPr sz="1275" b="0">
                <a:solidFill>
                  <a:srgbClr val="10201E"/>
                </a:solidFill>
              </a:defRPr>
            </a:lvl4pPr>
            <a:lvl5pPr>
              <a:defRPr sz="1275" b="0">
                <a:solidFill>
                  <a:srgbClr val="10201E"/>
                </a:solidFill>
              </a:defRPr>
            </a:lvl5pPr>
            <a:lvl6pPr>
              <a:defRPr sz="1275" b="0">
                <a:solidFill>
                  <a:srgbClr val="10201E"/>
                </a:solidFill>
              </a:defRPr>
            </a:lvl6pPr>
            <a:lvl7pPr>
              <a:defRPr sz="1275" b="0">
                <a:solidFill>
                  <a:srgbClr val="10201E"/>
                </a:solidFill>
              </a:defRPr>
            </a:lvl7pPr>
            <a:lvl8pPr>
              <a:defRPr sz="1275" b="0">
                <a:solidFill>
                  <a:srgbClr val="10201E"/>
                </a:solidFill>
              </a:defRPr>
            </a:lvl8pPr>
            <a:lvl9pPr>
              <a:defRPr sz="1275" b="0">
                <a:solidFill>
                  <a:srgbClr val="10201E"/>
                </a:solidFill>
              </a:defRPr>
            </a:lvl9pPr>
          </a:lstStyle>
          <a:p>
            <a:pPr>
              <a:defRPr sz="1275" b="0">
                <a:solidFill>
                  <a:srgbClr val="10201E"/>
                </a:solidFill>
              </a:defRPr>
            </a:pPr>
            <a:r>
              <a:rPr sz="1275" b="0">
                <a:solidFill>
                  <a:srgbClr val="10201E"/>
                </a:solidFill>
              </a:rPr>
              <a:t>协助实现 Ridge、随机森林、不同 k 和交叉验证的对照实验。</a:t>
            </a:r>
            <a:endParaRPr sz="1275" b="0">
              <a:solidFill>
                <a:srgbClr val="10201E"/>
              </a:solidFill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781050" y="4305300"/>
            <a:ext cx="10020300" cy="0"/>
          </a:xfrm>
          <a:prstGeom prst="line">
            <a:avLst/>
          </a:prstGeom>
          <a:ln w="9525">
            <a:solidFill>
              <a:srgbClr val="D6E2D9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447675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0D665C"/>
                </a:solidFill>
              </a:defRPr>
            </a:defPPr>
            <a:lvl1pPr>
              <a:defRPr sz="1275" b="1">
                <a:solidFill>
                  <a:srgbClr val="0D665C"/>
                </a:solidFill>
              </a:defRPr>
            </a:lvl1pPr>
            <a:lvl2pPr>
              <a:defRPr sz="1275" b="1">
                <a:solidFill>
                  <a:srgbClr val="0D665C"/>
                </a:solidFill>
              </a:defRPr>
            </a:lvl2pPr>
            <a:lvl3pPr>
              <a:defRPr sz="1275" b="1">
                <a:solidFill>
                  <a:srgbClr val="0D665C"/>
                </a:solidFill>
              </a:defRPr>
            </a:lvl3pPr>
            <a:lvl4pPr>
              <a:defRPr sz="1275" b="1">
                <a:solidFill>
                  <a:srgbClr val="0D665C"/>
                </a:solidFill>
              </a:defRPr>
            </a:lvl4pPr>
            <a:lvl5pPr>
              <a:defRPr sz="1275" b="1">
                <a:solidFill>
                  <a:srgbClr val="0D665C"/>
                </a:solidFill>
              </a:defRPr>
            </a:lvl5pPr>
            <a:lvl6pPr>
              <a:defRPr sz="1275" b="1">
                <a:solidFill>
                  <a:srgbClr val="0D665C"/>
                </a:solidFill>
              </a:defRPr>
            </a:lvl6pPr>
            <a:lvl7pPr>
              <a:defRPr sz="1275" b="1">
                <a:solidFill>
                  <a:srgbClr val="0D665C"/>
                </a:solidFill>
              </a:defRPr>
            </a:lvl7pPr>
            <a:lvl8pPr>
              <a:defRPr sz="1275" b="1">
                <a:solidFill>
                  <a:srgbClr val="0D665C"/>
                </a:solidFill>
              </a:defRPr>
            </a:lvl8pPr>
            <a:lvl9pPr>
              <a:defRPr sz="1275" b="1">
                <a:solidFill>
                  <a:srgbClr val="0D665C"/>
                </a:solidFill>
              </a:defRPr>
            </a:lvl9pPr>
          </a:lstStyle>
          <a:p>
            <a:pPr>
              <a:defRPr sz="1275" b="1">
                <a:solidFill>
                  <a:srgbClr val="0D665C"/>
                </a:solidFill>
              </a:defRPr>
            </a:pPr>
            <a:r>
              <a:rPr sz="1275" b="1">
                <a:solidFill>
                  <a:srgbClr val="0D665C"/>
                </a:solidFill>
              </a:rPr>
              <a:t>04</a:t>
            </a:r>
            <a:endParaRPr sz="1275" b="1">
              <a:solidFill>
                <a:srgbClr val="0D665C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447800" y="44005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10201E"/>
                </a:solidFill>
              </a:defRPr>
            </a:defPPr>
            <a:lvl1pPr>
              <a:defRPr sz="1575" b="1">
                <a:solidFill>
                  <a:srgbClr val="10201E"/>
                </a:solidFill>
              </a:defRPr>
            </a:lvl1pPr>
            <a:lvl2pPr>
              <a:defRPr sz="1575" b="1">
                <a:solidFill>
                  <a:srgbClr val="10201E"/>
                </a:solidFill>
              </a:defRPr>
            </a:lvl2pPr>
            <a:lvl3pPr>
              <a:defRPr sz="1575" b="1">
                <a:solidFill>
                  <a:srgbClr val="10201E"/>
                </a:solidFill>
              </a:defRPr>
            </a:lvl3pPr>
            <a:lvl4pPr>
              <a:defRPr sz="1575" b="1">
                <a:solidFill>
                  <a:srgbClr val="10201E"/>
                </a:solidFill>
              </a:defRPr>
            </a:lvl4pPr>
            <a:lvl5pPr>
              <a:defRPr sz="1575" b="1">
                <a:solidFill>
                  <a:srgbClr val="10201E"/>
                </a:solidFill>
              </a:defRPr>
            </a:lvl5pPr>
            <a:lvl6pPr>
              <a:defRPr sz="1575" b="1">
                <a:solidFill>
                  <a:srgbClr val="10201E"/>
                </a:solidFill>
              </a:defRPr>
            </a:lvl6pPr>
            <a:lvl7pPr>
              <a:defRPr sz="1575" b="1">
                <a:solidFill>
                  <a:srgbClr val="10201E"/>
                </a:solidFill>
              </a:defRPr>
            </a:lvl7pPr>
            <a:lvl8pPr>
              <a:defRPr sz="1575" b="1">
                <a:solidFill>
                  <a:srgbClr val="10201E"/>
                </a:solidFill>
              </a:defRPr>
            </a:lvl8pPr>
            <a:lvl9pPr>
              <a:defRPr sz="1575" b="1">
                <a:solidFill>
                  <a:srgbClr val="10201E"/>
                </a:solidFill>
              </a:defRPr>
            </a:lvl9pPr>
          </a:lstStyle>
          <a:p>
            <a:pPr>
              <a:defRPr sz="1575" b="1">
                <a:solidFill>
                  <a:srgbClr val="10201E"/>
                </a:solidFill>
              </a:defRPr>
            </a:pPr>
            <a:r>
              <a:rPr sz="1575" b="1">
                <a:solidFill>
                  <a:srgbClr val="10201E"/>
                </a:solidFill>
              </a:rPr>
              <a:t>Demo 前端工程</a:t>
            </a:r>
            <a:endParaRPr sz="1575" b="1">
              <a:solidFill>
                <a:srgbClr val="10201E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638550" y="4400550"/>
            <a:ext cx="685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10201E"/>
                </a:solidFill>
              </a:defRPr>
            </a:defPPr>
            <a:lvl1pPr>
              <a:defRPr sz="1275" b="0">
                <a:solidFill>
                  <a:srgbClr val="10201E"/>
                </a:solidFill>
              </a:defRPr>
            </a:lvl1pPr>
            <a:lvl2pPr>
              <a:defRPr sz="1275" b="0">
                <a:solidFill>
                  <a:srgbClr val="10201E"/>
                </a:solidFill>
              </a:defRPr>
            </a:lvl2pPr>
            <a:lvl3pPr>
              <a:defRPr sz="1275" b="0">
                <a:solidFill>
                  <a:srgbClr val="10201E"/>
                </a:solidFill>
              </a:defRPr>
            </a:lvl3pPr>
            <a:lvl4pPr>
              <a:defRPr sz="1275" b="0">
                <a:solidFill>
                  <a:srgbClr val="10201E"/>
                </a:solidFill>
              </a:defRPr>
            </a:lvl4pPr>
            <a:lvl5pPr>
              <a:defRPr sz="1275" b="0">
                <a:solidFill>
                  <a:srgbClr val="10201E"/>
                </a:solidFill>
              </a:defRPr>
            </a:lvl5pPr>
            <a:lvl6pPr>
              <a:defRPr sz="1275" b="0">
                <a:solidFill>
                  <a:srgbClr val="10201E"/>
                </a:solidFill>
              </a:defRPr>
            </a:lvl6pPr>
            <a:lvl7pPr>
              <a:defRPr sz="1275" b="0">
                <a:solidFill>
                  <a:srgbClr val="10201E"/>
                </a:solidFill>
              </a:defRPr>
            </a:lvl7pPr>
            <a:lvl8pPr>
              <a:defRPr sz="1275" b="0">
                <a:solidFill>
                  <a:srgbClr val="10201E"/>
                </a:solidFill>
              </a:defRPr>
            </a:lvl8pPr>
            <a:lvl9pPr>
              <a:defRPr sz="1275" b="0">
                <a:solidFill>
                  <a:srgbClr val="10201E"/>
                </a:solidFill>
              </a:defRPr>
            </a:lvl9pPr>
          </a:lstStyle>
          <a:p>
            <a:pPr>
              <a:defRPr sz="1275" b="0">
                <a:solidFill>
                  <a:srgbClr val="10201E"/>
                </a:solidFill>
              </a:defRPr>
            </a:pPr>
            <a:r>
              <a:rPr sz="1275" b="0">
                <a:solidFill>
                  <a:srgbClr val="10201E"/>
                </a:solidFill>
              </a:rPr>
              <a:t>协助搭建 FASTA 输入、候选排序和首批数量选择的交互页面。</a:t>
            </a:r>
            <a:endParaRPr sz="1275" b="0">
              <a:solidFill>
                <a:srgbClr val="10201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47700" y="400050"/>
            <a:ext cx="1047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850" b="1">
                <a:solidFill>
                  <a:srgbClr val="10201E"/>
                </a:solidFill>
              </a:defRPr>
            </a:defPPr>
            <a:lvl1pPr>
              <a:defRPr sz="2850" b="1">
                <a:solidFill>
                  <a:srgbClr val="10201E"/>
                </a:solidFill>
              </a:defRPr>
            </a:lvl1pPr>
            <a:lvl2pPr>
              <a:defRPr sz="2850" b="1">
                <a:solidFill>
                  <a:srgbClr val="10201E"/>
                </a:solidFill>
              </a:defRPr>
            </a:lvl2pPr>
            <a:lvl3pPr>
              <a:defRPr sz="2850" b="1">
                <a:solidFill>
                  <a:srgbClr val="10201E"/>
                </a:solidFill>
              </a:defRPr>
            </a:lvl3pPr>
            <a:lvl4pPr>
              <a:defRPr sz="2850" b="1">
                <a:solidFill>
                  <a:srgbClr val="10201E"/>
                </a:solidFill>
              </a:defRPr>
            </a:lvl4pPr>
            <a:lvl5pPr>
              <a:defRPr sz="2850" b="1">
                <a:solidFill>
                  <a:srgbClr val="10201E"/>
                </a:solidFill>
              </a:defRPr>
            </a:lvl5pPr>
            <a:lvl6pPr>
              <a:defRPr sz="2850" b="1">
                <a:solidFill>
                  <a:srgbClr val="10201E"/>
                </a:solidFill>
              </a:defRPr>
            </a:lvl6pPr>
            <a:lvl7pPr>
              <a:defRPr sz="2850" b="1">
                <a:solidFill>
                  <a:srgbClr val="10201E"/>
                </a:solidFill>
              </a:defRPr>
            </a:lvl7pPr>
            <a:lvl8pPr>
              <a:defRPr sz="2850" b="1">
                <a:solidFill>
                  <a:srgbClr val="10201E"/>
                </a:solidFill>
              </a:defRPr>
            </a:lvl8pPr>
            <a:lvl9pPr>
              <a:defRPr sz="2850" b="1">
                <a:solidFill>
                  <a:srgbClr val="10201E"/>
                </a:solidFill>
              </a:defRPr>
            </a:lvl9pPr>
          </a:lstStyle>
          <a:p>
            <a:pPr>
              <a:defRPr sz="2850" b="1">
                <a:solidFill>
                  <a:srgbClr val="10201E"/>
                </a:solidFill>
              </a:defRPr>
            </a:pPr>
            <a:r>
              <a:rPr sz="2850" b="1">
                <a:solidFill>
                  <a:srgbClr val="10201E"/>
                </a:solidFill>
              </a:rPr>
              <a:t>总结与下一步</a:t>
            </a:r>
            <a:endParaRPr sz="2850" b="1">
              <a:solidFill>
                <a:srgbClr val="10201E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620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586861"/>
                </a:solidFill>
              </a:defRPr>
            </a:defPPr>
            <a:lvl1pPr>
              <a:defRPr sz="1275" b="0">
                <a:solidFill>
                  <a:srgbClr val="586861"/>
                </a:solidFill>
              </a:defRPr>
            </a:lvl1pPr>
            <a:lvl2pPr>
              <a:defRPr sz="1275" b="0">
                <a:solidFill>
                  <a:srgbClr val="586861"/>
                </a:solidFill>
              </a:defRPr>
            </a:lvl2pPr>
            <a:lvl3pPr>
              <a:defRPr sz="1275" b="0">
                <a:solidFill>
                  <a:srgbClr val="586861"/>
                </a:solidFill>
              </a:defRPr>
            </a:lvl3pPr>
            <a:lvl4pPr>
              <a:defRPr sz="1275" b="0">
                <a:solidFill>
                  <a:srgbClr val="586861"/>
                </a:solidFill>
              </a:defRPr>
            </a:lvl4pPr>
            <a:lvl5pPr>
              <a:defRPr sz="1275" b="0">
                <a:solidFill>
                  <a:srgbClr val="586861"/>
                </a:solidFill>
              </a:defRPr>
            </a:lvl5pPr>
            <a:lvl6pPr>
              <a:defRPr sz="1275" b="0">
                <a:solidFill>
                  <a:srgbClr val="586861"/>
                </a:solidFill>
              </a:defRPr>
            </a:lvl6pPr>
            <a:lvl7pPr>
              <a:defRPr sz="1275" b="0">
                <a:solidFill>
                  <a:srgbClr val="586861"/>
                </a:solidFill>
              </a:defRPr>
            </a:lvl7pPr>
            <a:lvl8pPr>
              <a:defRPr sz="1275" b="0">
                <a:solidFill>
                  <a:srgbClr val="586861"/>
                </a:solidFill>
              </a:defRPr>
            </a:lvl8pPr>
            <a:lvl9pPr>
              <a:defRPr sz="1275" b="0">
                <a:solidFill>
                  <a:srgbClr val="586861"/>
                </a:solidFill>
              </a:defRPr>
            </a:lvl9pPr>
          </a:lstStyle>
          <a:p>
            <a:pPr>
              <a:defRPr sz="1275" b="0">
                <a:solidFill>
                  <a:srgbClr val="586861"/>
                </a:solidFill>
              </a:defRPr>
            </a:pPr>
            <a:r>
              <a:rPr sz="1275" b="0">
                <a:solidFill>
                  <a:srgbClr val="586861"/>
                </a:solidFill>
              </a:rPr>
              <a:t>项目的价值在于先界定证据边界，再交付可用的实验决策原型</a:t>
            </a:r>
            <a:endParaRPr sz="1275" b="0">
              <a:solidFill>
                <a:srgbClr val="586861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57250" y="161925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0D665C"/>
                </a:solidFill>
              </a:defRPr>
            </a:defPPr>
            <a:lvl1pPr>
              <a:defRPr sz="1575" b="1">
                <a:solidFill>
                  <a:srgbClr val="0D665C"/>
                </a:solidFill>
              </a:defRPr>
            </a:lvl1pPr>
            <a:lvl2pPr>
              <a:defRPr sz="1575" b="1">
                <a:solidFill>
                  <a:srgbClr val="0D665C"/>
                </a:solidFill>
              </a:defRPr>
            </a:lvl2pPr>
            <a:lvl3pPr>
              <a:defRPr sz="1575" b="1">
                <a:solidFill>
                  <a:srgbClr val="0D665C"/>
                </a:solidFill>
              </a:defRPr>
            </a:lvl3pPr>
            <a:lvl4pPr>
              <a:defRPr sz="1575" b="1">
                <a:solidFill>
                  <a:srgbClr val="0D665C"/>
                </a:solidFill>
              </a:defRPr>
            </a:lvl4pPr>
            <a:lvl5pPr>
              <a:defRPr sz="1575" b="1">
                <a:solidFill>
                  <a:srgbClr val="0D665C"/>
                </a:solidFill>
              </a:defRPr>
            </a:lvl5pPr>
            <a:lvl6pPr>
              <a:defRPr sz="1575" b="1">
                <a:solidFill>
                  <a:srgbClr val="0D665C"/>
                </a:solidFill>
              </a:defRPr>
            </a:lvl6pPr>
            <a:lvl7pPr>
              <a:defRPr sz="1575" b="1">
                <a:solidFill>
                  <a:srgbClr val="0D665C"/>
                </a:solidFill>
              </a:defRPr>
            </a:lvl7pPr>
            <a:lvl8pPr>
              <a:defRPr sz="1575" b="1">
                <a:solidFill>
                  <a:srgbClr val="0D665C"/>
                </a:solidFill>
              </a:defRPr>
            </a:lvl8pPr>
            <a:lvl9pPr>
              <a:defRPr sz="1575" b="1">
                <a:solidFill>
                  <a:srgbClr val="0D665C"/>
                </a:solidFill>
              </a:defRPr>
            </a:lvl9pPr>
          </a:lstStyle>
          <a:p>
            <a:pPr>
              <a:defRPr sz="1575" b="1">
                <a:solidFill>
                  <a:srgbClr val="0D665C"/>
                </a:solidFill>
              </a:defRPr>
            </a:pPr>
            <a:r>
              <a:rPr sz="1575" b="1">
                <a:solidFill>
                  <a:srgbClr val="0D665C"/>
                </a:solidFill>
              </a:rPr>
              <a:t>完成的工作</a:t>
            </a:r>
            <a:endParaRPr sz="1575" b="1">
              <a:solidFill>
                <a:srgbClr val="0D665C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143250" y="1619250"/>
            <a:ext cx="7572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10201E"/>
                </a:solidFill>
              </a:defRPr>
            </a:defPPr>
            <a:lvl1pPr>
              <a:defRPr sz="1425" b="0">
                <a:solidFill>
                  <a:srgbClr val="10201E"/>
                </a:solidFill>
              </a:defRPr>
            </a:lvl1pPr>
            <a:lvl2pPr>
              <a:defRPr sz="1425" b="0">
                <a:solidFill>
                  <a:srgbClr val="10201E"/>
                </a:solidFill>
              </a:defRPr>
            </a:lvl2pPr>
            <a:lvl3pPr>
              <a:defRPr sz="1425" b="0">
                <a:solidFill>
                  <a:srgbClr val="10201E"/>
                </a:solidFill>
              </a:defRPr>
            </a:lvl3pPr>
            <a:lvl4pPr>
              <a:defRPr sz="1425" b="0">
                <a:solidFill>
                  <a:srgbClr val="10201E"/>
                </a:solidFill>
              </a:defRPr>
            </a:lvl4pPr>
            <a:lvl5pPr>
              <a:defRPr sz="1425" b="0">
                <a:solidFill>
                  <a:srgbClr val="10201E"/>
                </a:solidFill>
              </a:defRPr>
            </a:lvl5pPr>
            <a:lvl6pPr>
              <a:defRPr sz="1425" b="0">
                <a:solidFill>
                  <a:srgbClr val="10201E"/>
                </a:solidFill>
              </a:defRPr>
            </a:lvl6pPr>
            <a:lvl7pPr>
              <a:defRPr sz="1425" b="0">
                <a:solidFill>
                  <a:srgbClr val="10201E"/>
                </a:solidFill>
              </a:defRPr>
            </a:lvl7pPr>
            <a:lvl8pPr>
              <a:defRPr sz="1425" b="0">
                <a:solidFill>
                  <a:srgbClr val="10201E"/>
                </a:solidFill>
              </a:defRPr>
            </a:lvl8pPr>
            <a:lvl9pPr>
              <a:defRPr sz="1425" b="0">
                <a:solidFill>
                  <a:srgbClr val="10201E"/>
                </a:solidFill>
              </a:defRPr>
            </a:lvl9pPr>
          </a:lstStyle>
          <a:p>
            <a:pPr>
              <a:defRPr sz="1425" b="0">
                <a:solidFill>
                  <a:srgbClr val="10201E"/>
                </a:solidFill>
              </a:defRPr>
            </a:pPr>
            <a:r>
              <a:rPr sz="1425" b="0">
                <a:solidFill>
                  <a:srgbClr val="10201E"/>
                </a:solidFill>
              </a:rPr>
              <a:t>理解论文目标，提取 PDF 数据，审计公开数据，探索模型与参数，完成交互 Demo</a:t>
            </a:r>
            <a:endParaRPr sz="1425" b="0">
              <a:solidFill>
                <a:srgbClr val="10201E"/>
              </a:solidFill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857250" y="2371725"/>
            <a:ext cx="9906000" cy="0"/>
          </a:xfrm>
          <a:prstGeom prst="line">
            <a:avLst/>
          </a:prstGeom>
          <a:ln w="9525">
            <a:solidFill>
              <a:srgbClr val="D6E2D9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2714625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C85D3C"/>
                </a:solidFill>
              </a:defRPr>
            </a:defPPr>
            <a:lvl1pPr>
              <a:defRPr sz="1575" b="1">
                <a:solidFill>
                  <a:srgbClr val="C85D3C"/>
                </a:solidFill>
              </a:defRPr>
            </a:lvl1pPr>
            <a:lvl2pPr>
              <a:defRPr sz="1575" b="1">
                <a:solidFill>
                  <a:srgbClr val="C85D3C"/>
                </a:solidFill>
              </a:defRPr>
            </a:lvl2pPr>
            <a:lvl3pPr>
              <a:defRPr sz="1575" b="1">
                <a:solidFill>
                  <a:srgbClr val="C85D3C"/>
                </a:solidFill>
              </a:defRPr>
            </a:lvl3pPr>
            <a:lvl4pPr>
              <a:defRPr sz="1575" b="1">
                <a:solidFill>
                  <a:srgbClr val="C85D3C"/>
                </a:solidFill>
              </a:defRPr>
            </a:lvl4pPr>
            <a:lvl5pPr>
              <a:defRPr sz="1575" b="1">
                <a:solidFill>
                  <a:srgbClr val="C85D3C"/>
                </a:solidFill>
              </a:defRPr>
            </a:lvl5pPr>
            <a:lvl6pPr>
              <a:defRPr sz="1575" b="1">
                <a:solidFill>
                  <a:srgbClr val="C85D3C"/>
                </a:solidFill>
              </a:defRPr>
            </a:lvl6pPr>
            <a:lvl7pPr>
              <a:defRPr sz="1575" b="1">
                <a:solidFill>
                  <a:srgbClr val="C85D3C"/>
                </a:solidFill>
              </a:defRPr>
            </a:lvl7pPr>
            <a:lvl8pPr>
              <a:defRPr sz="1575" b="1">
                <a:solidFill>
                  <a:srgbClr val="C85D3C"/>
                </a:solidFill>
              </a:defRPr>
            </a:lvl8pPr>
            <a:lvl9pPr>
              <a:defRPr sz="1575" b="1">
                <a:solidFill>
                  <a:srgbClr val="C85D3C"/>
                </a:solidFill>
              </a:defRPr>
            </a:lvl9pPr>
          </a:lstStyle>
          <a:p>
            <a:pPr>
              <a:defRPr sz="1575" b="1">
                <a:solidFill>
                  <a:srgbClr val="C85D3C"/>
                </a:solidFill>
              </a:defRPr>
            </a:pPr>
            <a:r>
              <a:rPr sz="1575" b="1">
                <a:solidFill>
                  <a:srgbClr val="C85D3C"/>
                </a:solidFill>
              </a:rPr>
              <a:t>最终选择</a:t>
            </a:r>
            <a:endParaRPr sz="1575" b="1">
              <a:solidFill>
                <a:srgbClr val="C85D3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143250" y="2714625"/>
            <a:ext cx="7572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10201E"/>
                </a:solidFill>
              </a:defRPr>
            </a:defPPr>
            <a:lvl1pPr>
              <a:defRPr sz="1425" b="1">
                <a:solidFill>
                  <a:srgbClr val="10201E"/>
                </a:solidFill>
              </a:defRPr>
            </a:lvl1pPr>
            <a:lvl2pPr>
              <a:defRPr sz="1425" b="1">
                <a:solidFill>
                  <a:srgbClr val="10201E"/>
                </a:solidFill>
              </a:defRPr>
            </a:lvl2pPr>
            <a:lvl3pPr>
              <a:defRPr sz="1425" b="1">
                <a:solidFill>
                  <a:srgbClr val="10201E"/>
                </a:solidFill>
              </a:defRPr>
            </a:lvl3pPr>
            <a:lvl4pPr>
              <a:defRPr sz="1425" b="1">
                <a:solidFill>
                  <a:srgbClr val="10201E"/>
                </a:solidFill>
              </a:defRPr>
            </a:lvl4pPr>
            <a:lvl5pPr>
              <a:defRPr sz="1425" b="1">
                <a:solidFill>
                  <a:srgbClr val="10201E"/>
                </a:solidFill>
              </a:defRPr>
            </a:lvl5pPr>
            <a:lvl6pPr>
              <a:defRPr sz="1425" b="1">
                <a:solidFill>
                  <a:srgbClr val="10201E"/>
                </a:solidFill>
              </a:defRPr>
            </a:lvl6pPr>
            <a:lvl7pPr>
              <a:defRPr sz="1425" b="1">
                <a:solidFill>
                  <a:srgbClr val="10201E"/>
                </a:solidFill>
              </a:defRPr>
            </a:lvl7pPr>
            <a:lvl8pPr>
              <a:defRPr sz="1425" b="1">
                <a:solidFill>
                  <a:srgbClr val="10201E"/>
                </a:solidFill>
              </a:defRPr>
            </a:lvl8pPr>
            <a:lvl9pPr>
              <a:defRPr sz="1425" b="1">
                <a:solidFill>
                  <a:srgbClr val="10201E"/>
                </a:solidFill>
              </a:defRPr>
            </a:lvl9pPr>
          </a:lstStyle>
          <a:p>
            <a:pPr>
              <a:defRPr sz="1425" b="1">
                <a:solidFill>
                  <a:srgbClr val="10201E"/>
                </a:solidFill>
              </a:defRPr>
            </a:pPr>
            <a:r>
              <a:rPr sz="1425" b="1">
                <a:solidFill>
                  <a:srgbClr val="10201E"/>
                </a:solidFill>
              </a:rPr>
              <a:t>Bagged Ridge 不是原始分数最高的版本，但更适合稳定排序并报告不确定性</a:t>
            </a:r>
            <a:endParaRPr sz="1425" b="1">
              <a:solidFill>
                <a:srgbClr val="10201E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857250" y="3467100"/>
            <a:ext cx="9906000" cy="0"/>
          </a:xfrm>
          <a:prstGeom prst="line">
            <a:avLst/>
          </a:prstGeom>
          <a:ln w="9525">
            <a:solidFill>
              <a:srgbClr val="D6E2D9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" y="38100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0D665C"/>
                </a:solidFill>
              </a:defRPr>
            </a:defPPr>
            <a:lvl1pPr>
              <a:defRPr sz="1575" b="1">
                <a:solidFill>
                  <a:srgbClr val="0D665C"/>
                </a:solidFill>
              </a:defRPr>
            </a:lvl1pPr>
            <a:lvl2pPr>
              <a:defRPr sz="1575" b="1">
                <a:solidFill>
                  <a:srgbClr val="0D665C"/>
                </a:solidFill>
              </a:defRPr>
            </a:lvl2pPr>
            <a:lvl3pPr>
              <a:defRPr sz="1575" b="1">
                <a:solidFill>
                  <a:srgbClr val="0D665C"/>
                </a:solidFill>
              </a:defRPr>
            </a:lvl3pPr>
            <a:lvl4pPr>
              <a:defRPr sz="1575" b="1">
                <a:solidFill>
                  <a:srgbClr val="0D665C"/>
                </a:solidFill>
              </a:defRPr>
            </a:lvl4pPr>
            <a:lvl5pPr>
              <a:defRPr sz="1575" b="1">
                <a:solidFill>
                  <a:srgbClr val="0D665C"/>
                </a:solidFill>
              </a:defRPr>
            </a:lvl5pPr>
            <a:lvl6pPr>
              <a:defRPr sz="1575" b="1">
                <a:solidFill>
                  <a:srgbClr val="0D665C"/>
                </a:solidFill>
              </a:defRPr>
            </a:lvl6pPr>
            <a:lvl7pPr>
              <a:defRPr sz="1575" b="1">
                <a:solidFill>
                  <a:srgbClr val="0D665C"/>
                </a:solidFill>
              </a:defRPr>
            </a:lvl7pPr>
            <a:lvl8pPr>
              <a:defRPr sz="1575" b="1">
                <a:solidFill>
                  <a:srgbClr val="0D665C"/>
                </a:solidFill>
              </a:defRPr>
            </a:lvl8pPr>
            <a:lvl9pPr>
              <a:defRPr sz="1575" b="1">
                <a:solidFill>
                  <a:srgbClr val="0D665C"/>
                </a:solidFill>
              </a:defRPr>
            </a:lvl9pPr>
          </a:lstStyle>
          <a:p>
            <a:pPr>
              <a:defRPr sz="1575" b="1">
                <a:solidFill>
                  <a:srgbClr val="0D665C"/>
                </a:solidFill>
              </a:defRPr>
            </a:pPr>
            <a:r>
              <a:rPr sz="1575" b="1">
                <a:solidFill>
                  <a:srgbClr val="0D665C"/>
                </a:solidFill>
              </a:rPr>
              <a:t>下一步</a:t>
            </a:r>
            <a:endParaRPr sz="1575" b="1">
              <a:solidFill>
                <a:srgbClr val="0D665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143250" y="3810000"/>
            <a:ext cx="7572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10201E"/>
                </a:solidFill>
              </a:defRPr>
            </a:defPPr>
            <a:lvl1pPr>
              <a:defRPr sz="1425" b="0">
                <a:solidFill>
                  <a:srgbClr val="10201E"/>
                </a:solidFill>
              </a:defRPr>
            </a:lvl1pPr>
            <a:lvl2pPr>
              <a:defRPr sz="1425" b="0">
                <a:solidFill>
                  <a:srgbClr val="10201E"/>
                </a:solidFill>
              </a:defRPr>
            </a:lvl2pPr>
            <a:lvl3pPr>
              <a:defRPr sz="1425" b="0">
                <a:solidFill>
                  <a:srgbClr val="10201E"/>
                </a:solidFill>
              </a:defRPr>
            </a:lvl3pPr>
            <a:lvl4pPr>
              <a:defRPr sz="1425" b="0">
                <a:solidFill>
                  <a:srgbClr val="10201E"/>
                </a:solidFill>
              </a:defRPr>
            </a:lvl4pPr>
            <a:lvl5pPr>
              <a:defRPr sz="1425" b="0">
                <a:solidFill>
                  <a:srgbClr val="10201E"/>
                </a:solidFill>
              </a:defRPr>
            </a:lvl5pPr>
            <a:lvl6pPr>
              <a:defRPr sz="1425" b="0">
                <a:solidFill>
                  <a:srgbClr val="10201E"/>
                </a:solidFill>
              </a:defRPr>
            </a:lvl6pPr>
            <a:lvl7pPr>
              <a:defRPr sz="1425" b="0">
                <a:solidFill>
                  <a:srgbClr val="10201E"/>
                </a:solidFill>
              </a:defRPr>
            </a:lvl7pPr>
            <a:lvl8pPr>
              <a:defRPr sz="1425" b="0">
                <a:solidFill>
                  <a:srgbClr val="10201E"/>
                </a:solidFill>
              </a:defRPr>
            </a:lvl8pPr>
            <a:lvl9pPr>
              <a:defRPr sz="1425" b="0">
                <a:solidFill>
                  <a:srgbClr val="10201E"/>
                </a:solidFill>
              </a:defRPr>
            </a:lvl9pPr>
          </a:lstStyle>
          <a:p>
            <a:pPr>
              <a:defRPr sz="1425" b="0">
                <a:solidFill>
                  <a:srgbClr val="10201E"/>
                </a:solidFill>
              </a:defRPr>
            </a:pPr>
            <a:r>
              <a:rPr sz="1425" b="0">
                <a:solidFill>
                  <a:srgbClr val="10201E"/>
                </a:solidFill>
              </a:rPr>
              <a:t>获得完整逐条件数据；引入外部实验数据；对新构建体开展盲测验证</a:t>
            </a:r>
            <a:endParaRPr sz="1425" b="0">
              <a:solidFill>
                <a:srgbClr val="10201E"/>
              </a:solidFill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857250" y="4562475"/>
            <a:ext cx="9906000" cy="0"/>
          </a:xfrm>
          <a:prstGeom prst="line">
            <a:avLst/>
          </a:prstGeom>
          <a:ln w="9525">
            <a:solidFill>
              <a:srgbClr val="D6E2D9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762125" y="5362575"/>
            <a:ext cx="866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1">
                <a:solidFill>
                  <a:srgbClr val="FFFFFF"/>
                </a:solidFill>
              </a:defRPr>
            </a:defPPr>
            <a:lvl1pPr>
              <a:defRPr sz="1425" b="1">
                <a:solidFill>
                  <a:srgbClr val="FFFFFF"/>
                </a:solidFill>
              </a:defRPr>
            </a:lvl1pPr>
            <a:lvl2pPr>
              <a:defRPr sz="1425" b="1">
                <a:solidFill>
                  <a:srgbClr val="FFFFFF"/>
                </a:solidFill>
              </a:defRPr>
            </a:lvl2pPr>
            <a:lvl3pPr>
              <a:defRPr sz="1425" b="1">
                <a:solidFill>
                  <a:srgbClr val="FFFFFF"/>
                </a:solidFill>
              </a:defRPr>
            </a:lvl3pPr>
            <a:lvl4pPr>
              <a:defRPr sz="1425" b="1">
                <a:solidFill>
                  <a:srgbClr val="FFFFFF"/>
                </a:solidFill>
              </a:defRPr>
            </a:lvl4pPr>
            <a:lvl5pPr>
              <a:defRPr sz="1425" b="1">
                <a:solidFill>
                  <a:srgbClr val="FFFFFF"/>
                </a:solidFill>
              </a:defRPr>
            </a:lvl5pPr>
            <a:lvl6pPr>
              <a:defRPr sz="1425" b="1">
                <a:solidFill>
                  <a:srgbClr val="FFFFFF"/>
                </a:solidFill>
              </a:defRPr>
            </a:lvl6pPr>
            <a:lvl7pPr>
              <a:defRPr sz="1425" b="1">
                <a:solidFill>
                  <a:srgbClr val="FFFFFF"/>
                </a:solidFill>
              </a:defRPr>
            </a:lvl7pPr>
            <a:lvl8pPr>
              <a:defRPr sz="1425" b="1">
                <a:solidFill>
                  <a:srgbClr val="FFFFFF"/>
                </a:solidFill>
              </a:defRPr>
            </a:lvl8pPr>
            <a:lvl9pPr>
              <a:defRPr sz="1425" b="1">
                <a:solidFill>
                  <a:srgbClr val="FFFFFF"/>
                </a:solidFill>
              </a:defRPr>
            </a:lvl9pPr>
          </a:lstStyle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最终交付：一个知道自己能做什么、也知道自己不能做什么的实验优先级工</a:t>
            </a:r>
            <a:endParaRPr sz="142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2619</Words>
  <Application>WPS 表格</Application>
  <PresentationFormat>Converted Presentation</PresentationFormat>
  <Paragraphs>479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Aptos</vt:lpstr>
      <vt:lpstr>苹方-简</vt:lpstr>
      <vt:lpstr>微软雅黑</vt:lpstr>
      <vt:lpstr>汉仪旗黑</vt:lpstr>
      <vt:lpstr>宋体</vt:lpstr>
      <vt:lpstr>Arial Unicode MS</vt:lpstr>
      <vt:lpstr>宋体-简</vt:lpstr>
      <vt:lpstr>Arial Bold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zh4517</cp:lastModifiedBy>
  <cp:revision>3</cp:revision>
  <dcterms:created xsi:type="dcterms:W3CDTF">2026-10-18T13:55:00Z</dcterms:created>
  <dcterms:modified xsi:type="dcterms:W3CDTF">2026-10-18T13:55:00Z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2052-4.8.1.7842</vt:lpwstr>
  </property>
</Properties>
</file>